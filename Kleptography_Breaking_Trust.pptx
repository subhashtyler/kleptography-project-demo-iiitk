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6" r:id="rId1"/>
  </p:sldMasterIdLst>
  <p:notesMasterIdLst>
    <p:notesMasterId r:id="rId19"/>
  </p:notesMasterIdLst>
  <p:sldIdLst>
    <p:sldId id="256" r:id="rId2"/>
    <p:sldId id="258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DAECB1-02F2-4153-8E2A-EC3D8F84E0A3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F77DCD-A01D-466E-8CE8-A78CD6E20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198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Kleptography is the study of stealing information securely and subliminally. This talk uses a simulated RSA/TLS backdoor to show why we cannot blindly trust black-box crypto.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80255-E285-DB10-0F6A-8171B711A3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3433DB-DC5B-9217-894F-8217C4E058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896C0-0F50-58ED-1C86-C5A5C88E9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E9813-8D4A-4B7D-AA54-22C5D5543CE6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B9C67-4768-4A24-2D2A-702A0B15C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E9936-12D0-8449-CC57-88F3B9173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D93B7-F6B2-4F25-A1D1-1BF45C44A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232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2E2C1-47C4-EBC4-561B-B20B27D68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F99E4-9698-9F82-1D2D-CF57C7A8B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B6839-763D-7C75-C0D5-46E008AC8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5EB77-2488-461A-8071-FA2F595F59C4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E19D0-07B8-DD5C-6343-B97859C33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09610-BFCA-D6AC-5B30-F89F12539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D93B7-F6B2-4F25-A1D1-1BF45C44A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852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ABC6D-48D8-D4AC-0E72-A083DE24A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CFBD4-F611-B6AE-89C8-B3C75F8F2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4738D-AA18-A15D-6EFF-518CDABC9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002A2-BBBB-4E66-A52E-250E2A66A0B0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F1E6A-7364-1219-EBC9-246A2646A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B33FD-DE9A-F73E-C4DC-8AA2F7320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D93B7-F6B2-4F25-A1D1-1BF45C44A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153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CDA0C-7256-73F5-AD85-458B1974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2A78E-E249-60F1-449B-088CE4AF5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DEFDBE-854D-46AF-4860-60398B61D0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BDCFE-8866-D623-CC47-B9806664A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2C31F-C16C-464F-8EB6-6868833C565B}" type="datetime1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21631-4BA8-9E36-1CC6-07B5D0C4B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369E9C-72B1-7CE7-695A-452CAC41B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D93B7-F6B2-4F25-A1D1-1BF45C44A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353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B1863-DA81-E1A0-D077-E16C498D0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F7B90-139E-26CA-787F-AEAB449D6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CE5EAC-9681-1973-5C2C-A5AC8C10FF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5D7A25-F815-34A1-62ED-00D2FC7FC4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81F7BB-2C05-D7A0-F769-13D68ED535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BFFC31-2D3E-622B-E177-C258B275E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CED03-A58C-4B1B-8C5D-35C87FDE42A0}" type="datetime1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1EC982-43AE-4091-CA96-5D33217B2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A3BB72-7A44-E445-9398-6927D32C3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D93B7-F6B2-4F25-A1D1-1BF45C44A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406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3EE10-5F9A-C0FF-253D-FA5E262BB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B569E5-4294-54A1-6292-D290CC3C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8C5EE-2F83-4131-887E-D68F6146799D}" type="datetime1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0A6E3D-AB79-A8F4-90F8-0283CE4B0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6C746D-3071-755F-9DBA-4F7BA46C2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D93B7-F6B2-4F25-A1D1-1BF45C44A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232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C90D11-7185-5789-BB35-354C04D03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DEE1E-B647-439D-B5A9-D4993E42B141}" type="datetime1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7ED392-A6FB-E41B-6629-E0EE91C6B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B48FA-E406-4206-E289-45803890A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D93B7-F6B2-4F25-A1D1-1BF45C44A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278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593DE-8CA7-17D9-BD6C-97F07ED59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8EE93-1BDF-018C-765C-97E7929D3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1D424-1FBB-8631-603E-A36E872227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979F14-45A0-32E9-77F1-AE8806D04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6210-7A62-4EA7-838F-2394378308E9}" type="datetime1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76710C-71CE-A35B-F51C-AC1F6F0CF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5FB2BB-00CC-90CF-18E1-3332AFD9F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D93B7-F6B2-4F25-A1D1-1BF45C44A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338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70673-F344-8EE4-362C-A114B93D2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ED246C-95E9-E5AC-1EBF-59070474DD2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D3A8AB-B328-1CBD-C9F0-0C51B41419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54318F-1094-5429-3E87-DB3EA7BE4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90860-9C09-4C63-9331-1FD1BF25E073}" type="datetime1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43BCF3-B1F9-83E5-C0F7-37DC03296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0F9212-409C-F027-A264-73CB4F836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D93B7-F6B2-4F25-A1D1-1BF45C44A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653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2BE74-33E2-9125-4615-82DB5561D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51ECFD-7D42-AC25-A3A8-D2078A032A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C95D6-6B51-E606-1DDD-7A81DD6FF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AB0E7-1AC6-458C-AEBC-DF0DE82BFFEE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485DC-4620-58BF-B47F-29EBFE153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470C0-228C-CCF9-9B33-214D5BC74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D93B7-F6B2-4F25-A1D1-1BF45C44A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921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5987C9-4F14-45F9-BC84-EC6494BA25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144F8B-68DD-595F-337A-5543F1D30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12C18-6B12-DABA-DE18-AF194C352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50B5D-3226-452A-9FC4-F34FFDFC03F2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E4D20-6F71-6636-042E-1D9CCEC43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2CBEE-2F14-A4FC-CE8F-661B65F6A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D93B7-F6B2-4F25-A1D1-1BF45C44A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987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C66E44-81D9-1703-BA02-A676A0FB7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D9FC24-46FF-FCDD-0FC5-E63FC7308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2E9C3-7FC8-92F2-CEC9-C8C03429F5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CA669D-AB8D-4CEE-998C-B8B6C74EB4D5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81045-9076-9B14-0BAB-F7BE3E2102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93C3E-36AA-BEDF-C200-C5090D7BC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4D93B7-F6B2-4F25-A1D1-1BF45C44A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494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00E97F-E939-4552-BEE1-145C23289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411" y="0"/>
            <a:ext cx="1374589" cy="7752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26C0C9-485C-511B-AB57-712553888447}"/>
              </a:ext>
            </a:extLst>
          </p:cNvPr>
          <p:cNvSpPr txBox="1"/>
          <p:nvPr/>
        </p:nvSpPr>
        <p:spPr>
          <a:xfrm>
            <a:off x="97971" y="1997528"/>
            <a:ext cx="12192000" cy="12449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lang="en-US" sz="4800" b="0" i="0" dirty="0">
                <a:solidFill>
                  <a:srgbClr val="2683C6"/>
                </a:solidFill>
                <a:latin typeface="Calibri"/>
              </a:rPr>
              <a:t>Kleptography: Breaking Trust in Cryptography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571997-535B-8804-B143-F87AF1A8BFD4}"/>
              </a:ext>
            </a:extLst>
          </p:cNvPr>
          <p:cNvSpPr txBox="1"/>
          <p:nvPr/>
        </p:nvSpPr>
        <p:spPr>
          <a:xfrm>
            <a:off x="1746298" y="5067203"/>
            <a:ext cx="25843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highlight>
                  <a:srgbClr val="00FFFF"/>
                </a:highlight>
              </a:rPr>
              <a:t>Presented By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Name: Subhash Kumar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Roll No: 2026PHD16006</a:t>
            </a:r>
            <a:br>
              <a:rPr lang="en-US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Course Code: CBM522 </a:t>
            </a:r>
          </a:p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3A89096-E7A1-D719-8839-557C8FB67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552A1-42AB-479A-ACC6-B4F33BBD27A8}" type="datetime1">
              <a:rPr lang="en-US" smtClean="0"/>
              <a:t>10/25/2026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A53BBB-E9B7-DE19-AEDE-471465BBC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D93B7-F6B2-4F25-A1D1-1BF45C44A1C8}" type="slidenum">
              <a:rPr lang="en-US" smtClean="0"/>
              <a:t>1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00584" y="3200400"/>
            <a:ext cx="11978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 i="1" dirty="0">
                <a:solidFill>
                  <a:srgbClr val="FF0000"/>
                </a:solidFill>
                <a:highlight>
                  <a:srgbClr val="00FFFF"/>
                </a:highlight>
                <a:latin typeface="Calibri"/>
              </a:rPr>
              <a:t>A backdoor-in-cryptography case study, after Young &amp; Yung's “Dark Side of Black-Box Cryptography”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4247F3-1D4F-E54C-06E2-5FD9F1AE4214}"/>
              </a:ext>
            </a:extLst>
          </p:cNvPr>
          <p:cNvSpPr txBox="1"/>
          <p:nvPr/>
        </p:nvSpPr>
        <p:spPr>
          <a:xfrm>
            <a:off x="8338458" y="5067203"/>
            <a:ext cx="21072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highlight>
                  <a:srgbClr val="00FFFF"/>
                </a:highlight>
              </a:rPr>
              <a:t>Presented To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Dr. Manjith B.C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Assistant Professor</a:t>
            </a:r>
          </a:p>
        </p:txBody>
      </p:sp>
    </p:spTree>
    <p:extLst>
      <p:ext uri="{BB962C8B-B14F-4D97-AF65-F5344CB8AC3E}">
        <p14:creationId xmlns:p14="http://schemas.microsoft.com/office/powerpoint/2010/main" val="3005134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accent2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93800" y="1737360"/>
            <a:ext cx="9966959" cy="10160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3640" y="1041400"/>
            <a:ext cx="9652000" cy="6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dirty="0">
                <a:solidFill>
                  <a:srgbClr val="2683C6"/>
                </a:solidFill>
                <a:latin typeface="Calibri"/>
              </a:rPr>
              <a:t>Overview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602E61-8345-B744-2B1B-915A85BF6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411" y="0"/>
            <a:ext cx="1374589" cy="7752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2FED1C6-DE0D-5C63-1543-7F4E883F1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D7CA-65C0-4C01-A14B-CA78EC7EFDA0}" type="datetime1">
              <a:rPr lang="en-US" smtClean="0"/>
              <a:t>10/25/2026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FFF75A4-F227-71A2-787F-07CE68606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D93B7-F6B2-4F25-A1D1-1BF45C44A1C8}" type="slidenum">
              <a:rPr lang="en-US" smtClean="0"/>
              <a:t>2</a:t>
            </a:fld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197864" y="196596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CADE4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3F3F3F"/>
                </a:solidFill>
                <a:latin typeface="Calibri"/>
              </a:rPr>
              <a:t>The trust problem in black-box cryptography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7864" y="2624328"/>
            <a:ext cx="9144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 dirty="0">
                <a:solidFill>
                  <a:srgbClr val="1CADE4"/>
                </a:solidFill>
                <a:latin typeface="Calibri"/>
              </a:rPr>
              <a:t>▪  </a:t>
            </a:r>
            <a:r>
              <a:rPr sz="1800" b="0" i="0" dirty="0">
                <a:solidFill>
                  <a:srgbClr val="3F3F3F"/>
                </a:solidFill>
                <a:latin typeface="Calibri"/>
              </a:rPr>
              <a:t>Capstone / Clipper </a:t>
            </a:r>
            <a:r>
              <a:rPr lang="en-US" sz="1800" b="0" i="0" dirty="0">
                <a:solidFill>
                  <a:srgbClr val="3F3F3F"/>
                </a:solidFill>
                <a:latin typeface="Calibri"/>
              </a:rPr>
              <a:t>- </a:t>
            </a:r>
            <a:r>
              <a:rPr sz="1800" b="0" i="0" dirty="0">
                <a:solidFill>
                  <a:srgbClr val="3F3F3F"/>
                </a:solidFill>
                <a:latin typeface="Calibri"/>
              </a:rPr>
              <a:t>the historical spark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7864" y="3282696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CADE4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3F3F3F"/>
                </a:solidFill>
                <a:latin typeface="Calibri"/>
              </a:rPr>
              <a:t>Kleptography and the SETUP attack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7864" y="3941064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CADE4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3F3F3F"/>
                </a:solidFill>
                <a:latin typeface="Calibri"/>
              </a:rPr>
              <a:t>A simulated RSA key-generation backdoor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97864" y="4599431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CADE4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3F3F3F"/>
                </a:solidFill>
                <a:latin typeface="Calibri"/>
              </a:rPr>
              <a:t>Why it stays hidden, and the TLS 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7864" y="525780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CADE4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3F3F3F"/>
                </a:solidFill>
                <a:latin typeface="Calibri"/>
              </a:rPr>
              <a:t>Real-world echoes and defences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C0ED88-4959-886C-7734-4200813FB9C4}"/>
              </a:ext>
            </a:extLst>
          </p:cNvPr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accent2"/>
              </a:solidFill>
            </a:endParaRP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95B398F-035D-D424-0910-425F6CD1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D7CA-65C0-4C01-A14B-CA78EC7EFDA0}" type="datetime1">
              <a:rPr lang="en-US" smtClean="0"/>
              <a:t>10/25/2026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915721F-5AF2-C598-2F9E-A61F8458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D93B7-F6B2-4F25-A1D1-1BF45C44A1C8}" type="slidenum">
              <a:rPr lang="en-US" smtClean="0"/>
              <a:t>3</a:t>
            </a:fld>
            <a:endParaRPr lang="en-US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106" y="0"/>
            <a:ext cx="1374589" cy="7752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97864" y="1828800"/>
            <a:ext cx="23774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0" b="1" i="0">
                <a:solidFill>
                  <a:srgbClr val="1CADE4"/>
                </a:solidFill>
                <a:latin typeface="Calibr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14884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2683C6"/>
                </a:solidFill>
                <a:latin typeface="Calibri"/>
              </a:rPr>
              <a:t>THE PROBLEM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20040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3F3F3F"/>
                </a:solidFill>
                <a:latin typeface="Calibri"/>
              </a:rPr>
              <a:t>Why can't we just trust a crypto device?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02336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7F7F7F"/>
                </a:solidFill>
                <a:latin typeface="Calibri"/>
              </a:rPr>
              <a:t>Black-box trust  ·  Capstone &amp; Clipper  ·  Young &amp; Yung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C0ED88-4959-886C-7734-4200813FB9C4}"/>
              </a:ext>
            </a:extLst>
          </p:cNvPr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6E3021-DAFB-4FFC-E64B-2B1085FA11E2}"/>
              </a:ext>
            </a:extLst>
          </p:cNvPr>
          <p:cNvSpPr/>
          <p:nvPr/>
        </p:nvSpPr>
        <p:spPr>
          <a:xfrm>
            <a:off x="1193800" y="1737360"/>
            <a:ext cx="9966959" cy="10160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324906-051E-B3FC-B30F-EE2CD95E535D}"/>
              </a:ext>
            </a:extLst>
          </p:cNvPr>
          <p:cNvSpPr txBox="1"/>
          <p:nvPr/>
        </p:nvSpPr>
        <p:spPr>
          <a:xfrm>
            <a:off x="1183640" y="1041400"/>
            <a:ext cx="96520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0" dirty="0">
                <a:solidFill>
                  <a:srgbClr val="2683C6"/>
                </a:solidFill>
                <a:latin typeface="Calibri"/>
              </a:rPr>
              <a:t>Black-Box Cryptography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95B398F-035D-D424-0910-425F6CD1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D7CA-65C0-4C01-A14B-CA78EC7EFDA0}" type="datetime1">
              <a:rPr lang="en-US" smtClean="0"/>
              <a:t>10/25/2026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915721F-5AF2-C598-2F9E-A61F8458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D93B7-F6B2-4F25-A1D1-1BF45C44A1C8}" type="slidenum">
              <a:rPr lang="en-US" smtClean="0"/>
              <a:t>4</a:t>
            </a:fld>
            <a:endParaRPr lang="en-US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106" y="0"/>
            <a:ext cx="1374589" cy="7752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97864" y="1965960"/>
            <a:ext cx="5852160" cy="2446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1700" b="0" i="0" dirty="0">
                <a:solidFill>
                  <a:srgbClr val="3F3F3F"/>
                </a:solidFill>
                <a:latin typeface="Calibri"/>
              </a:rPr>
              <a:t>A </a:t>
            </a:r>
            <a:r>
              <a:rPr sz="1700" b="1" i="0" dirty="0">
                <a:solidFill>
                  <a:srgbClr val="3F3F3F"/>
                </a:solidFill>
                <a:latin typeface="Calibri"/>
              </a:rPr>
              <a:t>black box</a:t>
            </a:r>
            <a:r>
              <a:rPr sz="1700" b="0" i="0" dirty="0">
                <a:solidFill>
                  <a:srgbClr val="3F3F3F"/>
                </a:solidFill>
                <a:latin typeface="Calibri"/>
              </a:rPr>
              <a:t> is any crypto component a chip, library or key generator whose internals you cannot inspect.</a:t>
            </a:r>
          </a:p>
          <a:p>
            <a:pPr algn="l">
              <a:spcAft>
                <a:spcPts val="1600"/>
              </a:spcAft>
            </a:pPr>
            <a:r>
              <a:rPr sz="1700" b="0" i="0" dirty="0">
                <a:solidFill>
                  <a:srgbClr val="3F3F3F"/>
                </a:solidFill>
                <a:latin typeface="Calibri"/>
              </a:rPr>
              <a:t>You see only its </a:t>
            </a:r>
            <a:r>
              <a:rPr sz="1700" b="1" i="0" dirty="0">
                <a:solidFill>
                  <a:srgbClr val="3F3F3F"/>
                </a:solidFill>
                <a:latin typeface="Calibri"/>
              </a:rPr>
              <a:t>inputs and outputs</a:t>
            </a:r>
            <a:r>
              <a:rPr sz="1700" b="0" i="0" dirty="0">
                <a:solidFill>
                  <a:srgbClr val="3F3F3F"/>
                </a:solidFill>
                <a:latin typeface="Calibri"/>
              </a:rPr>
              <a:t>, and are asked to trust that it does exactly what it claims.</a:t>
            </a:r>
          </a:p>
          <a:p>
            <a:pPr algn="l">
              <a:spcAft>
                <a:spcPts val="1600"/>
              </a:spcAft>
            </a:pPr>
            <a:r>
              <a:rPr sz="1700" b="1" i="0" dirty="0">
                <a:solidFill>
                  <a:srgbClr val="C03A2B"/>
                </a:solidFill>
                <a:latin typeface="Calibri"/>
              </a:rPr>
              <a:t>The uncomfortable question:</a:t>
            </a:r>
          </a:p>
          <a:p>
            <a:pPr algn="l">
              <a:spcAft>
                <a:spcPts val="1600"/>
              </a:spcAft>
            </a:pPr>
            <a:r>
              <a:rPr sz="1700" b="0" i="1" dirty="0">
                <a:solidFill>
                  <a:srgbClr val="3F3F3F"/>
                </a:solidFill>
                <a:latin typeface="Calibri"/>
              </a:rPr>
              <a:t>If the maker was malicious, could the device leak your secrets while looking perfectly correct?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286000"/>
            <a:ext cx="3291840" cy="2011680"/>
          </a:xfrm>
          <a:prstGeom prst="roundRect">
            <a:avLst>
              <a:gd name="adj" fmla="val 8000"/>
            </a:avLst>
          </a:prstGeom>
          <a:solidFill>
            <a:srgbClr val="EA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800" b="1" i="0">
                <a:solidFill>
                  <a:srgbClr val="3F3F3F"/>
                </a:solidFill>
                <a:latin typeface="Calibri"/>
              </a:rPr>
              <a:t>BLACK BOX</a:t>
            </a:r>
          </a:p>
          <a:p>
            <a:pPr algn="ctr"/>
            <a:r>
              <a:rPr sz="1200" b="0" i="0">
                <a:solidFill>
                  <a:srgbClr val="7F7F7F"/>
                </a:solidFill>
                <a:latin typeface="Calibri"/>
              </a:rPr>
              <a:t>key generator / chip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874519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7F7F7F"/>
                </a:solidFill>
                <a:latin typeface="Calibri"/>
              </a:rPr>
              <a:t>input 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43434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 i="0">
                <a:solidFill>
                  <a:srgbClr val="7F7F7F"/>
                </a:solidFill>
                <a:latin typeface="Calibri"/>
              </a:rPr>
              <a:t>→ output (looks valid)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C0ED88-4959-886C-7734-4200813FB9C4}"/>
              </a:ext>
            </a:extLst>
          </p:cNvPr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6E3021-DAFB-4FFC-E64B-2B1085FA11E2}"/>
              </a:ext>
            </a:extLst>
          </p:cNvPr>
          <p:cNvSpPr/>
          <p:nvPr/>
        </p:nvSpPr>
        <p:spPr>
          <a:xfrm>
            <a:off x="1193800" y="1737360"/>
            <a:ext cx="9966959" cy="10160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324906-051E-B3FC-B30F-EE2CD95E535D}"/>
              </a:ext>
            </a:extLst>
          </p:cNvPr>
          <p:cNvSpPr txBox="1"/>
          <p:nvPr/>
        </p:nvSpPr>
        <p:spPr>
          <a:xfrm>
            <a:off x="1183640" y="1041400"/>
            <a:ext cx="96520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0" dirty="0">
                <a:solidFill>
                  <a:srgbClr val="2683C6"/>
                </a:solidFill>
                <a:latin typeface="Calibri"/>
              </a:rPr>
              <a:t>The Spark: Capstone &amp; Clipper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95B398F-035D-D424-0910-425F6CD1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D7CA-65C0-4C01-A14B-CA78EC7EFDA0}" type="datetime1">
              <a:rPr lang="en-US" smtClean="0"/>
              <a:t>10/25/2026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915721F-5AF2-C598-2F9E-A61F8458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D93B7-F6B2-4F25-A1D1-1BF45C44A1C8}" type="slidenum">
              <a:rPr lang="en-US" smtClean="0"/>
              <a:t>5</a:t>
            </a:fld>
            <a:endParaRPr lang="en-US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106" y="0"/>
            <a:ext cx="1374589" cy="775285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197864" y="2011679"/>
            <a:ext cx="457200" cy="457200"/>
          </a:xfrm>
          <a:prstGeom prst="ellipse">
            <a:avLst/>
          </a:prstGeom>
          <a:solidFill>
            <a:srgbClr val="1CA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83664" y="1965960"/>
            <a:ext cx="91440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683C6"/>
                </a:solidFill>
                <a:latin typeface="Calibri"/>
              </a:rPr>
              <a:t>Capstone (1993)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3F3F3F"/>
                </a:solidFill>
                <a:latin typeface="Calibri"/>
              </a:rPr>
              <a:t>A U.S. government programme to put strong, standardised cryptography into tamper-resistant hardware chips.</a:t>
            </a:r>
          </a:p>
        </p:txBody>
      </p:sp>
      <p:sp>
        <p:nvSpPr>
          <p:cNvPr id="18" name="Oval 17"/>
          <p:cNvSpPr/>
          <p:nvPr/>
        </p:nvSpPr>
        <p:spPr>
          <a:xfrm>
            <a:off x="1197864" y="2944368"/>
            <a:ext cx="457200" cy="457200"/>
          </a:xfrm>
          <a:prstGeom prst="ellipse">
            <a:avLst/>
          </a:prstGeom>
          <a:solidFill>
            <a:srgbClr val="1CA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3664" y="2898648"/>
            <a:ext cx="9144000" cy="5180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 dirty="0">
                <a:solidFill>
                  <a:srgbClr val="2683C6"/>
                </a:solidFill>
                <a:latin typeface="Calibri"/>
              </a:rPr>
              <a:t>Clipper chip</a:t>
            </a:r>
          </a:p>
          <a:p>
            <a:pPr algn="l">
              <a:spcAft>
                <a:spcPts val="200"/>
              </a:spcAft>
            </a:pPr>
            <a:r>
              <a:rPr sz="1500" b="0" i="0" dirty="0">
                <a:solidFill>
                  <a:srgbClr val="3F3F3F"/>
                </a:solidFill>
                <a:latin typeface="Calibri"/>
              </a:rPr>
              <a:t>Its best-known piece with a built-in key-escrow feature so authorities could decrypt communications.</a:t>
            </a:r>
          </a:p>
        </p:txBody>
      </p:sp>
      <p:sp>
        <p:nvSpPr>
          <p:cNvPr id="20" name="Oval 19"/>
          <p:cNvSpPr/>
          <p:nvPr/>
        </p:nvSpPr>
        <p:spPr>
          <a:xfrm>
            <a:off x="1197864" y="3877055"/>
            <a:ext cx="457200" cy="457200"/>
          </a:xfrm>
          <a:prstGeom prst="ellipse">
            <a:avLst/>
          </a:prstGeom>
          <a:solidFill>
            <a:srgbClr val="1CA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83664" y="3831335"/>
            <a:ext cx="91440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683C6"/>
                </a:solidFill>
                <a:latin typeface="Calibri"/>
              </a:rPr>
              <a:t>Secret internals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3F3F3F"/>
                </a:solidFill>
                <a:latin typeface="Calibri"/>
              </a:rPr>
              <a:t>The Skipjack algorithm was classified; users had to trust hardware they could not examine.</a:t>
            </a:r>
          </a:p>
        </p:txBody>
      </p:sp>
      <p:sp>
        <p:nvSpPr>
          <p:cNvPr id="22" name="Oval 21"/>
          <p:cNvSpPr/>
          <p:nvPr/>
        </p:nvSpPr>
        <p:spPr>
          <a:xfrm>
            <a:off x="1197864" y="4809744"/>
            <a:ext cx="457200" cy="457200"/>
          </a:xfrm>
          <a:prstGeom prst="ellipse">
            <a:avLst/>
          </a:prstGeom>
          <a:solidFill>
            <a:srgbClr val="1CA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83664" y="4764024"/>
            <a:ext cx="91440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 dirty="0">
                <a:solidFill>
                  <a:srgbClr val="2683C6"/>
                </a:solidFill>
                <a:latin typeface="Calibri"/>
              </a:rPr>
              <a:t>The worry</a:t>
            </a:r>
          </a:p>
          <a:p>
            <a:pPr algn="l">
              <a:spcAft>
                <a:spcPts val="200"/>
              </a:spcAft>
            </a:pPr>
            <a:r>
              <a:rPr sz="1500" b="0" i="0" dirty="0">
                <a:solidFill>
                  <a:srgbClr val="3F3F3F"/>
                </a:solidFill>
                <a:latin typeface="Calibri"/>
              </a:rPr>
              <a:t>If a government can design in lawful access, what stops a vendor designing in a hidden, unlawful one?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C0ED88-4959-886C-7734-4200813FB9C4}"/>
              </a:ext>
            </a:extLst>
          </p:cNvPr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6E3021-DAFB-4FFC-E64B-2B1085FA11E2}"/>
              </a:ext>
            </a:extLst>
          </p:cNvPr>
          <p:cNvSpPr/>
          <p:nvPr/>
        </p:nvSpPr>
        <p:spPr>
          <a:xfrm>
            <a:off x="1193800" y="1737360"/>
            <a:ext cx="9966959" cy="10160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324906-051E-B3FC-B30F-EE2CD95E535D}"/>
              </a:ext>
            </a:extLst>
          </p:cNvPr>
          <p:cNvSpPr txBox="1"/>
          <p:nvPr/>
        </p:nvSpPr>
        <p:spPr>
          <a:xfrm>
            <a:off x="1183640" y="1041400"/>
            <a:ext cx="96520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0" dirty="0">
                <a:solidFill>
                  <a:srgbClr val="2683C6"/>
                </a:solidFill>
                <a:latin typeface="Calibri"/>
              </a:rPr>
              <a:t>Young &amp; Yung's Question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95B398F-035D-D424-0910-425F6CD1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D7CA-65C0-4C01-A14B-CA78EC7EFDA0}" type="datetime1">
              <a:rPr lang="en-US" smtClean="0"/>
              <a:t>10/25/2026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915721F-5AF2-C598-2F9E-A61F8458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D93B7-F6B2-4F25-A1D1-1BF45C44A1C8}" type="slidenum">
              <a:rPr lang="en-US" smtClean="0"/>
              <a:t>6</a:t>
            </a:fld>
            <a:endParaRPr lang="en-US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106" y="0"/>
            <a:ext cx="1374589" cy="775285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197864" y="1965960"/>
            <a:ext cx="9966960" cy="1371600"/>
          </a:xfrm>
          <a:prstGeom prst="roundRect">
            <a:avLst>
              <a:gd name="adj" fmla="val 8000"/>
            </a:avLst>
          </a:prstGeom>
          <a:solidFill>
            <a:srgbClr val="EA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72184" y="2328594"/>
            <a:ext cx="9418320" cy="6463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 dirty="0">
                <a:solidFill>
                  <a:srgbClr val="2683C6"/>
                </a:solidFill>
                <a:latin typeface="Calibri"/>
              </a:rPr>
              <a:t>“Should we trust Capstone?”</a:t>
            </a:r>
          </a:p>
          <a:p>
            <a:pPr algn="l">
              <a:spcAft>
                <a:spcPts val="600"/>
              </a:spcAft>
            </a:pPr>
            <a:r>
              <a:rPr sz="1500" b="0" i="0" dirty="0">
                <a:solidFill>
                  <a:srgbClr val="7F7F7F"/>
                </a:solidFill>
                <a:latin typeface="Calibri"/>
              </a:rPr>
              <a:t>Adam Young &amp; Moti Yung, CRYPTO 1996 “The Dark Side of Black-Box Cryptography”.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7864" y="3611880"/>
            <a:ext cx="9966960" cy="1415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 dirty="0">
                <a:solidFill>
                  <a:srgbClr val="3F3F3F"/>
                </a:solidFill>
                <a:latin typeface="Calibri"/>
              </a:rPr>
              <a:t>They showed the danger is not hypothetical. A malicious designer can embed a backdoor that is:</a:t>
            </a:r>
          </a:p>
          <a:p>
            <a:pPr algn="l">
              <a:spcAft>
                <a:spcPts val="1200"/>
              </a:spcAft>
            </a:pPr>
            <a:r>
              <a:rPr sz="1500" b="1" i="0" dirty="0">
                <a:solidFill>
                  <a:srgbClr val="C03A2B"/>
                </a:solidFill>
                <a:latin typeface="Calibri"/>
              </a:rPr>
              <a:t>Secure </a:t>
            </a:r>
            <a:r>
              <a:rPr lang="en-US" sz="1500" b="1" i="0" dirty="0">
                <a:solidFill>
                  <a:srgbClr val="C03A2B"/>
                </a:solidFill>
                <a:latin typeface="Calibri"/>
              </a:rPr>
              <a:t>&gt; </a:t>
            </a:r>
            <a:r>
              <a:rPr sz="1500" b="0" i="0" dirty="0">
                <a:solidFill>
                  <a:srgbClr val="3F3F3F"/>
                </a:solidFill>
                <a:latin typeface="Calibri"/>
              </a:rPr>
              <a:t>only the attacker, holding a secret key, can exploit it.</a:t>
            </a:r>
          </a:p>
          <a:p>
            <a:pPr algn="l">
              <a:spcAft>
                <a:spcPts val="1200"/>
              </a:spcAft>
            </a:pPr>
            <a:r>
              <a:rPr sz="1500" b="1" i="0" dirty="0">
                <a:solidFill>
                  <a:srgbClr val="C03A2B"/>
                </a:solidFill>
                <a:latin typeface="Calibri"/>
              </a:rPr>
              <a:t>Subliminal </a:t>
            </a:r>
            <a:r>
              <a:rPr lang="en-US" sz="1500" b="1" dirty="0">
                <a:solidFill>
                  <a:srgbClr val="C03A2B"/>
                </a:solidFill>
                <a:latin typeface="Calibri"/>
              </a:rPr>
              <a:t>&gt;</a:t>
            </a:r>
            <a:r>
              <a:rPr sz="1500" b="1" i="0" dirty="0">
                <a:solidFill>
                  <a:srgbClr val="C03A2B"/>
                </a:solidFill>
                <a:latin typeface="Calibri"/>
              </a:rPr>
              <a:t> </a:t>
            </a:r>
            <a:r>
              <a:rPr sz="1500" b="0" i="0" dirty="0">
                <a:solidFill>
                  <a:srgbClr val="3F3F3F"/>
                </a:solidFill>
                <a:latin typeface="Calibri"/>
              </a:rPr>
              <a:t>outputs are indistinguishable from honest ones, even under inspection.</a:t>
            </a:r>
          </a:p>
          <a:p>
            <a:pPr algn="l">
              <a:spcAft>
                <a:spcPts val="1200"/>
              </a:spcAft>
            </a:pPr>
            <a:r>
              <a:rPr sz="1600" b="0" i="0" dirty="0">
                <a:solidFill>
                  <a:srgbClr val="3F3F3F"/>
                </a:solidFill>
                <a:latin typeface="Calibri"/>
              </a:rPr>
              <a:t>They named this new field </a:t>
            </a:r>
            <a:r>
              <a:rPr sz="1600" b="1" i="0" dirty="0">
                <a:solidFill>
                  <a:srgbClr val="2683C6"/>
                </a:solidFill>
                <a:latin typeface="Calibri"/>
              </a:rPr>
              <a:t>kleptography</a:t>
            </a:r>
            <a:r>
              <a:rPr sz="1600" b="0" i="0" dirty="0">
                <a:solidFill>
                  <a:srgbClr val="3F3F3F"/>
                </a:solidFill>
                <a:latin typeface="Calibri"/>
              </a:rPr>
              <a:t> using cryptography against the user.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C0ED88-4959-886C-7734-4200813FB9C4}"/>
              </a:ext>
            </a:extLst>
          </p:cNvPr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accent2"/>
              </a:solidFill>
            </a:endParaRP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95B398F-035D-D424-0910-425F6CD1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D7CA-65C0-4C01-A14B-CA78EC7EFDA0}" type="datetime1">
              <a:rPr lang="en-US" smtClean="0"/>
              <a:t>10/25/2026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915721F-5AF2-C598-2F9E-A61F8458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D93B7-F6B2-4F25-A1D1-1BF45C44A1C8}" type="slidenum">
              <a:rPr lang="en-US" smtClean="0"/>
              <a:t>7</a:t>
            </a:fld>
            <a:endParaRPr lang="en-US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106" y="0"/>
            <a:ext cx="1374589" cy="7752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97864" y="1828800"/>
            <a:ext cx="23774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0" b="1" i="0">
                <a:solidFill>
                  <a:srgbClr val="1CADE4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14884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2683C6"/>
                </a:solidFill>
                <a:latin typeface="Calibri"/>
              </a:rPr>
              <a:t>KLEPTOGRAPHY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20040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3F3F3F"/>
                </a:solidFill>
                <a:latin typeface="Calibri"/>
              </a:rPr>
              <a:t>Stealing secrets securely and subliminally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02336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7F7F7F"/>
                </a:solidFill>
                <a:latin typeface="Calibri"/>
              </a:rPr>
              <a:t>SETUP attacks  ·  Symmetric vs asymmetric  ·  RSA backdoor  ·  TLS impact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C0ED88-4959-886C-7734-4200813FB9C4}"/>
              </a:ext>
            </a:extLst>
          </p:cNvPr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6E3021-DAFB-4FFC-E64B-2B1085FA11E2}"/>
              </a:ext>
            </a:extLst>
          </p:cNvPr>
          <p:cNvSpPr/>
          <p:nvPr/>
        </p:nvSpPr>
        <p:spPr>
          <a:xfrm>
            <a:off x="1193800" y="1737360"/>
            <a:ext cx="9966959" cy="10160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324906-051E-B3FC-B30F-EE2CD95E535D}"/>
              </a:ext>
            </a:extLst>
          </p:cNvPr>
          <p:cNvSpPr txBox="1"/>
          <p:nvPr/>
        </p:nvSpPr>
        <p:spPr>
          <a:xfrm>
            <a:off x="1183640" y="1041400"/>
            <a:ext cx="96520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0" dirty="0">
                <a:solidFill>
                  <a:srgbClr val="2683C6"/>
                </a:solidFill>
                <a:latin typeface="Calibri"/>
              </a:rPr>
              <a:t>The SETUP Attack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95B398F-035D-D424-0910-425F6CD1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D7CA-65C0-4C01-A14B-CA78EC7EFDA0}" type="datetime1">
              <a:rPr lang="en-US" smtClean="0"/>
              <a:t>10/25/2026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915721F-5AF2-C598-2F9E-A61F8458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D93B7-F6B2-4F25-A1D1-1BF45C44A1C8}" type="slidenum">
              <a:rPr lang="en-US" smtClean="0"/>
              <a:t>8</a:t>
            </a:fld>
            <a:endParaRPr lang="en-US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106" y="0"/>
            <a:ext cx="1374589" cy="7752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97864" y="1874519"/>
            <a:ext cx="9966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683C6"/>
                </a:solidFill>
                <a:latin typeface="Calibri"/>
              </a:rPr>
              <a:t>SETUP</a:t>
            </a:r>
            <a:r>
              <a:rPr sz="1700" b="0" i="0">
                <a:solidFill>
                  <a:srgbClr val="3F3F3F"/>
                </a:solidFill>
                <a:latin typeface="Calibri"/>
              </a:rPr>
              <a:t> = Secretly Embedded Trapdoor with Universal Protection.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97864" y="2606039"/>
            <a:ext cx="4846320" cy="1417320"/>
          </a:xfrm>
          <a:prstGeom prst="roundRect">
            <a:avLst>
              <a:gd name="adj" fmla="val 8000"/>
            </a:avLst>
          </a:prstGeom>
          <a:solidFill>
            <a:srgbClr val="EA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26464" y="2788920"/>
            <a:ext cx="4389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683C6"/>
                </a:solidFill>
                <a:latin typeface="Calibri"/>
              </a:rPr>
              <a:t>Embedded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3F3F3F"/>
                </a:solidFill>
                <a:latin typeface="Calibri"/>
              </a:rPr>
              <a:t>The trapdoor lives inside an otherwise correct algorithm or device.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18504" y="2606039"/>
            <a:ext cx="4846320" cy="1417320"/>
          </a:xfrm>
          <a:prstGeom prst="roundRect">
            <a:avLst>
              <a:gd name="adj" fmla="val 8000"/>
            </a:avLst>
          </a:prstGeom>
          <a:solidFill>
            <a:srgbClr val="EA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47104" y="2788920"/>
            <a:ext cx="4389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683C6"/>
                </a:solidFill>
                <a:latin typeface="Calibri"/>
              </a:rPr>
              <a:t>Universal protection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3F3F3F"/>
                </a:solidFill>
                <a:latin typeface="Calibri"/>
              </a:rPr>
              <a:t>It uses the attacker's public key, so even if the backdoor is found, no one else can use 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97864" y="4206240"/>
            <a:ext cx="4846320" cy="1417320"/>
          </a:xfrm>
          <a:prstGeom prst="roundRect">
            <a:avLst>
              <a:gd name="adj" fmla="val 8000"/>
            </a:avLst>
          </a:prstGeom>
          <a:solidFill>
            <a:srgbClr val="EA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26464" y="4389120"/>
            <a:ext cx="4389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683C6"/>
                </a:solidFill>
                <a:latin typeface="Calibri"/>
              </a:rPr>
              <a:t>Subliminal leak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3F3F3F"/>
                </a:solidFill>
                <a:latin typeface="Calibri"/>
              </a:rPr>
              <a:t>Secret data is smuggled out through normal-looking outputs.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18504" y="4206240"/>
            <a:ext cx="4846320" cy="1417320"/>
          </a:xfrm>
          <a:prstGeom prst="roundRect">
            <a:avLst>
              <a:gd name="adj" fmla="val 8000"/>
            </a:avLst>
          </a:prstGeom>
          <a:solidFill>
            <a:srgbClr val="EA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47104" y="4389120"/>
            <a:ext cx="4389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683C6"/>
                </a:solidFill>
                <a:latin typeface="Calibri"/>
              </a:rPr>
              <a:t>Asymmetric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3F3F3F"/>
                </a:solidFill>
                <a:latin typeface="Calibri"/>
              </a:rPr>
              <a:t>Only the attacker's matching private key can recover the leaked secret.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C0ED88-4959-886C-7734-4200813FB9C4}"/>
              </a:ext>
            </a:extLst>
          </p:cNvPr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6E3021-DAFB-4FFC-E64B-2B1085FA11E2}"/>
              </a:ext>
            </a:extLst>
          </p:cNvPr>
          <p:cNvSpPr/>
          <p:nvPr/>
        </p:nvSpPr>
        <p:spPr>
          <a:xfrm>
            <a:off x="1193800" y="1737360"/>
            <a:ext cx="9966959" cy="10160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324906-051E-B3FC-B30F-EE2CD95E535D}"/>
              </a:ext>
            </a:extLst>
          </p:cNvPr>
          <p:cNvSpPr txBox="1"/>
          <p:nvPr/>
        </p:nvSpPr>
        <p:spPr>
          <a:xfrm>
            <a:off x="1183640" y="1041400"/>
            <a:ext cx="96520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0" dirty="0">
                <a:solidFill>
                  <a:srgbClr val="2683C6"/>
                </a:solidFill>
                <a:latin typeface="Calibri"/>
              </a:rPr>
              <a:t>Why an Asymmetric Backdoor Is Worse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95B398F-035D-D424-0910-425F6CD1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D7CA-65C0-4C01-A14B-CA78EC7EFDA0}" type="datetime1">
              <a:rPr lang="en-US" smtClean="0"/>
              <a:t>10/25/2026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915721F-5AF2-C598-2F9E-A61F8458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D93B7-F6B2-4F25-A1D1-1BF45C44A1C8}" type="slidenum">
              <a:rPr lang="en-US" smtClean="0"/>
              <a:t>9</a:t>
            </a:fld>
            <a:endParaRPr lang="en-US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106" y="0"/>
            <a:ext cx="1374589" cy="775285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197864" y="1965960"/>
            <a:ext cx="4800600" cy="402336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72184" y="2194560"/>
            <a:ext cx="4251960" cy="2677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 i="0" dirty="0">
                <a:solidFill>
                  <a:srgbClr val="C03A2B"/>
                </a:solidFill>
                <a:latin typeface="Calibri"/>
              </a:rPr>
              <a:t>Symmetric backdoor</a:t>
            </a:r>
          </a:p>
          <a:p>
            <a:pPr algn="l">
              <a:spcAft>
                <a:spcPts val="1200"/>
              </a:spcAft>
            </a:pPr>
            <a:r>
              <a:rPr sz="1500" b="1" i="0" dirty="0">
                <a:solidFill>
                  <a:srgbClr val="3F3F3F"/>
                </a:solidFill>
                <a:latin typeface="Calibri"/>
              </a:rPr>
              <a:t>Same secret both ways </a:t>
            </a:r>
            <a:r>
              <a:rPr lang="en-US" sz="1500" b="1" i="0" dirty="0">
                <a:solidFill>
                  <a:srgbClr val="3F3F3F"/>
                </a:solidFill>
                <a:latin typeface="Calibri"/>
              </a:rPr>
              <a:t>-</a:t>
            </a:r>
            <a:r>
              <a:rPr sz="1500" b="1" i="0" dirty="0">
                <a:solidFill>
                  <a:srgbClr val="3F3F3F"/>
                </a:solidFill>
                <a:latin typeface="Calibri"/>
              </a:rPr>
              <a:t> </a:t>
            </a:r>
            <a:r>
              <a:rPr sz="1400" b="0" i="0" dirty="0">
                <a:solidFill>
                  <a:srgbClr val="3F3F3F"/>
                </a:solidFill>
                <a:latin typeface="Calibri"/>
              </a:rPr>
              <a:t>The key that hides data also recovers it.</a:t>
            </a:r>
          </a:p>
          <a:p>
            <a:pPr algn="l">
              <a:spcAft>
                <a:spcPts val="1200"/>
              </a:spcAft>
            </a:pPr>
            <a:r>
              <a:rPr sz="1500" b="1" i="0" dirty="0">
                <a:solidFill>
                  <a:srgbClr val="3F3F3F"/>
                </a:solidFill>
                <a:latin typeface="Calibri"/>
              </a:rPr>
              <a:t>Baked into the device </a:t>
            </a:r>
            <a:r>
              <a:rPr lang="en-US" sz="1500" b="1" i="0" dirty="0">
                <a:solidFill>
                  <a:srgbClr val="3F3F3F"/>
                </a:solidFill>
                <a:latin typeface="Calibri"/>
              </a:rPr>
              <a:t>-</a:t>
            </a:r>
            <a:r>
              <a:rPr sz="1500" b="1" i="0" dirty="0">
                <a:solidFill>
                  <a:srgbClr val="3F3F3F"/>
                </a:solidFill>
                <a:latin typeface="Calibri"/>
              </a:rPr>
              <a:t> </a:t>
            </a:r>
            <a:r>
              <a:rPr sz="1400" b="0" i="0" dirty="0">
                <a:solidFill>
                  <a:srgbClr val="3F3F3F"/>
                </a:solidFill>
                <a:latin typeface="Calibri"/>
              </a:rPr>
              <a:t>That secret sits inside the hardware or code.</a:t>
            </a:r>
          </a:p>
          <a:p>
            <a:pPr algn="l">
              <a:spcAft>
                <a:spcPts val="1200"/>
              </a:spcAft>
            </a:pPr>
            <a:r>
              <a:rPr sz="1500" b="1" i="0" dirty="0">
                <a:solidFill>
                  <a:srgbClr val="3F3F3F"/>
                </a:solidFill>
                <a:latin typeface="Calibri"/>
              </a:rPr>
              <a:t>Found = broken </a:t>
            </a:r>
            <a:r>
              <a:rPr lang="en-US" sz="1500" b="1" i="0" dirty="0">
                <a:solidFill>
                  <a:srgbClr val="3F3F3F"/>
                </a:solidFill>
                <a:latin typeface="Calibri"/>
              </a:rPr>
              <a:t>-</a:t>
            </a:r>
            <a:r>
              <a:rPr sz="1500" b="1" i="0" dirty="0">
                <a:solidFill>
                  <a:srgbClr val="3F3F3F"/>
                </a:solidFill>
                <a:latin typeface="Calibri"/>
              </a:rPr>
              <a:t> </a:t>
            </a:r>
            <a:r>
              <a:rPr sz="1400" b="0" i="0" dirty="0">
                <a:solidFill>
                  <a:srgbClr val="3F3F3F"/>
                </a:solidFill>
                <a:latin typeface="Calibri"/>
              </a:rPr>
              <a:t>Reverse-engineer one device and anyone can abuse the backdoor </a:t>
            </a:r>
            <a:r>
              <a:rPr lang="en-US" sz="1400" b="0" i="0" dirty="0">
                <a:solidFill>
                  <a:srgbClr val="3F3F3F"/>
                </a:solidFill>
                <a:latin typeface="Calibri"/>
              </a:rPr>
              <a:t>-</a:t>
            </a:r>
            <a:r>
              <a:rPr sz="1400" b="0" i="0" dirty="0">
                <a:solidFill>
                  <a:srgbClr val="3F3F3F"/>
                </a:solidFill>
                <a:latin typeface="Calibri"/>
              </a:rPr>
              <a:t> including rivals.</a:t>
            </a:r>
          </a:p>
          <a:p>
            <a:pPr algn="l">
              <a:spcAft>
                <a:spcPts val="1200"/>
              </a:spcAft>
            </a:pPr>
            <a:r>
              <a:rPr sz="1500" b="1" i="0" dirty="0">
                <a:solidFill>
                  <a:srgbClr val="3F3F3F"/>
                </a:solidFill>
                <a:latin typeface="Calibri"/>
              </a:rPr>
              <a:t>Weak for the attacker </a:t>
            </a:r>
            <a:r>
              <a:rPr lang="en-US" sz="1500" b="1" i="0" dirty="0">
                <a:solidFill>
                  <a:srgbClr val="3F3F3F"/>
                </a:solidFill>
                <a:latin typeface="Calibri"/>
              </a:rPr>
              <a:t>-</a:t>
            </a:r>
            <a:r>
              <a:rPr sz="1500" b="1" i="0" dirty="0">
                <a:solidFill>
                  <a:srgbClr val="3F3F3F"/>
                </a:solidFill>
                <a:latin typeface="Calibri"/>
              </a:rPr>
              <a:t> </a:t>
            </a:r>
            <a:r>
              <a:rPr sz="1400" b="0" i="0" dirty="0">
                <a:solidFill>
                  <a:srgbClr val="3F3F3F"/>
                </a:solidFill>
                <a:latin typeface="Calibri"/>
              </a:rPr>
              <a:t>No exclusivity, high risk of exposure.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64224" y="1965960"/>
            <a:ext cx="4800600" cy="4023360"/>
          </a:xfrm>
          <a:prstGeom prst="roundRect">
            <a:avLst>
              <a:gd name="adj" fmla="val 8000"/>
            </a:avLst>
          </a:prstGeom>
          <a:solidFill>
            <a:srgbClr val="EA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38544" y="2194560"/>
            <a:ext cx="4251960" cy="2677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 i="0" dirty="0">
                <a:solidFill>
                  <a:srgbClr val="2683C6"/>
                </a:solidFill>
                <a:latin typeface="Calibri"/>
              </a:rPr>
              <a:t>Asymmetric backdoor (SETUP)</a:t>
            </a:r>
          </a:p>
          <a:p>
            <a:pPr algn="l">
              <a:spcAft>
                <a:spcPts val="1200"/>
              </a:spcAft>
            </a:pPr>
            <a:r>
              <a:rPr sz="1500" b="1" i="0" dirty="0">
                <a:solidFill>
                  <a:srgbClr val="3F3F3F"/>
                </a:solidFill>
                <a:latin typeface="Calibri"/>
              </a:rPr>
              <a:t>Public key inside </a:t>
            </a:r>
            <a:r>
              <a:rPr lang="en-US" sz="1500" b="1" i="0" dirty="0">
                <a:solidFill>
                  <a:srgbClr val="3F3F3F"/>
                </a:solidFill>
                <a:latin typeface="Calibri"/>
              </a:rPr>
              <a:t>-</a:t>
            </a:r>
            <a:r>
              <a:rPr sz="1500" b="1" i="0" dirty="0">
                <a:solidFill>
                  <a:srgbClr val="3F3F3F"/>
                </a:solidFill>
                <a:latin typeface="Calibri"/>
              </a:rPr>
              <a:t> </a:t>
            </a:r>
            <a:r>
              <a:rPr sz="1400" b="0" i="0" dirty="0">
                <a:solidFill>
                  <a:srgbClr val="3F3F3F"/>
                </a:solidFill>
                <a:latin typeface="Calibri"/>
              </a:rPr>
              <a:t>Only the attacker's public key is embedded.</a:t>
            </a:r>
          </a:p>
          <a:p>
            <a:pPr algn="l">
              <a:spcAft>
                <a:spcPts val="1200"/>
              </a:spcAft>
            </a:pPr>
            <a:r>
              <a:rPr sz="1500" b="1" i="0" dirty="0">
                <a:solidFill>
                  <a:srgbClr val="3F3F3F"/>
                </a:solidFill>
                <a:latin typeface="Calibri"/>
              </a:rPr>
              <a:t>Private key stays out </a:t>
            </a:r>
            <a:r>
              <a:rPr lang="en-US" sz="1500" b="1" i="0" dirty="0">
                <a:solidFill>
                  <a:srgbClr val="3F3F3F"/>
                </a:solidFill>
                <a:latin typeface="Calibri"/>
              </a:rPr>
              <a:t>-</a:t>
            </a:r>
            <a:r>
              <a:rPr sz="1500" b="1" i="0" dirty="0">
                <a:solidFill>
                  <a:srgbClr val="3F3F3F"/>
                </a:solidFill>
                <a:latin typeface="Calibri"/>
              </a:rPr>
              <a:t> </a:t>
            </a:r>
            <a:r>
              <a:rPr sz="1400" b="0" i="0" dirty="0">
                <a:solidFill>
                  <a:srgbClr val="3F3F3F"/>
                </a:solidFill>
                <a:latin typeface="Calibri"/>
              </a:rPr>
              <a:t>The recovery key never ships with the device.</a:t>
            </a:r>
          </a:p>
          <a:p>
            <a:pPr algn="l">
              <a:spcAft>
                <a:spcPts val="1200"/>
              </a:spcAft>
            </a:pPr>
            <a:r>
              <a:rPr sz="1500" b="1" i="0" dirty="0">
                <a:solidFill>
                  <a:srgbClr val="3F3F3F"/>
                </a:solidFill>
                <a:latin typeface="Calibri"/>
              </a:rPr>
              <a:t>Found ≠ broken </a:t>
            </a:r>
            <a:r>
              <a:rPr lang="en-US" sz="1500" b="1" i="0" dirty="0">
                <a:solidFill>
                  <a:srgbClr val="3F3F3F"/>
                </a:solidFill>
                <a:latin typeface="Calibri"/>
              </a:rPr>
              <a:t>-</a:t>
            </a:r>
            <a:r>
              <a:rPr sz="1500" b="1" i="0" dirty="0">
                <a:solidFill>
                  <a:srgbClr val="3F3F3F"/>
                </a:solidFill>
                <a:latin typeface="Calibri"/>
              </a:rPr>
              <a:t> </a:t>
            </a:r>
            <a:r>
              <a:rPr sz="1400" b="0" i="0" dirty="0">
                <a:solidFill>
                  <a:srgbClr val="3F3F3F"/>
                </a:solidFill>
                <a:latin typeface="Calibri"/>
              </a:rPr>
              <a:t>Even full disassembly reveals only a public key </a:t>
            </a:r>
            <a:r>
              <a:rPr lang="en-US" sz="1400" b="0" i="0" dirty="0">
                <a:solidFill>
                  <a:srgbClr val="3F3F3F"/>
                </a:solidFill>
                <a:latin typeface="Calibri"/>
              </a:rPr>
              <a:t>-</a:t>
            </a:r>
            <a:r>
              <a:rPr sz="1400" b="0" i="0" dirty="0">
                <a:solidFill>
                  <a:srgbClr val="3F3F3F"/>
                </a:solidFill>
                <a:latin typeface="Calibri"/>
              </a:rPr>
              <a:t> useless to others.</a:t>
            </a:r>
          </a:p>
          <a:p>
            <a:pPr algn="l">
              <a:spcAft>
                <a:spcPts val="1200"/>
              </a:spcAft>
            </a:pPr>
            <a:r>
              <a:rPr sz="1500" b="1" i="0" dirty="0">
                <a:solidFill>
                  <a:srgbClr val="3F3F3F"/>
                </a:solidFill>
                <a:latin typeface="Calibri"/>
              </a:rPr>
              <a:t>Exclusive to attacker </a:t>
            </a:r>
            <a:r>
              <a:rPr lang="en-US" sz="1500" b="1" i="0" dirty="0">
                <a:solidFill>
                  <a:srgbClr val="3F3F3F"/>
                </a:solidFill>
                <a:latin typeface="Calibri"/>
              </a:rPr>
              <a:t>-</a:t>
            </a:r>
            <a:r>
              <a:rPr sz="1500" b="1" i="0" dirty="0">
                <a:solidFill>
                  <a:srgbClr val="3F3F3F"/>
                </a:solidFill>
                <a:latin typeface="Calibri"/>
              </a:rPr>
              <a:t> </a:t>
            </a:r>
            <a:r>
              <a:rPr sz="1400" b="0" i="0" dirty="0">
                <a:solidFill>
                  <a:srgbClr val="3F3F3F"/>
                </a:solidFill>
                <a:latin typeface="Calibri"/>
              </a:rPr>
              <a:t>Only the holder of the private key profits.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C0ED88-4959-886C-7734-4200813FB9C4}"/>
              </a:ext>
            </a:extLst>
          </p:cNvPr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6E3021-DAFB-4FFC-E64B-2B1085FA11E2}"/>
              </a:ext>
            </a:extLst>
          </p:cNvPr>
          <p:cNvSpPr/>
          <p:nvPr/>
        </p:nvSpPr>
        <p:spPr>
          <a:xfrm>
            <a:off x="1193800" y="1737360"/>
            <a:ext cx="9966959" cy="10160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324906-051E-B3FC-B30F-EE2CD95E535D}"/>
              </a:ext>
            </a:extLst>
          </p:cNvPr>
          <p:cNvSpPr txBox="1"/>
          <p:nvPr/>
        </p:nvSpPr>
        <p:spPr>
          <a:xfrm>
            <a:off x="1183640" y="1041400"/>
            <a:ext cx="96520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0" dirty="0">
                <a:solidFill>
                  <a:srgbClr val="2683C6"/>
                </a:solidFill>
                <a:latin typeface="Calibri"/>
              </a:rPr>
              <a:t>Simulated RSA Key-Generation Backdoor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95B398F-035D-D424-0910-425F6CD1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D7CA-65C0-4C01-A14B-CA78EC7EFDA0}" type="datetime1">
              <a:rPr lang="en-US" smtClean="0"/>
              <a:t>10/25/2026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915721F-5AF2-C598-2F9E-A61F8458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D93B7-F6B2-4F25-A1D1-1BF45C44A1C8}" type="slidenum">
              <a:rPr lang="en-US" smtClean="0"/>
              <a:t>10</a:t>
            </a:fld>
            <a:endParaRPr lang="en-US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106" y="0"/>
            <a:ext cx="1374589" cy="7752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97864" y="1828800"/>
            <a:ext cx="996696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 dirty="0">
                <a:solidFill>
                  <a:srgbClr val="7F7F7F"/>
                </a:solidFill>
                <a:latin typeface="Calibri"/>
              </a:rPr>
              <a:t>A tampered generator produces a normal-looking RSA key pair </a:t>
            </a:r>
            <a:r>
              <a:rPr lang="en-US" sz="1500" b="0" i="1" dirty="0">
                <a:solidFill>
                  <a:srgbClr val="7F7F7F"/>
                </a:solidFill>
                <a:latin typeface="Calibri"/>
              </a:rPr>
              <a:t>-</a:t>
            </a:r>
            <a:r>
              <a:rPr sz="1500" b="0" i="1" dirty="0">
                <a:solidFill>
                  <a:srgbClr val="7F7F7F"/>
                </a:solidFill>
                <a:latin typeface="Calibri"/>
              </a:rPr>
              <a:t> while hiding a clue to the private key in the public 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97864" y="265176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EA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i="0">
                <a:solidFill>
                  <a:srgbClr val="3F3F3F"/>
                </a:solidFill>
                <a:latin typeface="Calibri"/>
              </a:rPr>
              <a:t>Backdoored</a:t>
            </a:r>
          </a:p>
          <a:p>
            <a:pPr algn="ctr"/>
            <a:r>
              <a:rPr sz="1300" b="0" i="0">
                <a:solidFill>
                  <a:srgbClr val="7F7F7F"/>
                </a:solidFill>
                <a:latin typeface="Calibri"/>
              </a:rPr>
              <a:t>key generator</a:t>
            </a:r>
          </a:p>
          <a:p>
            <a:pPr algn="ctr"/>
            <a:r>
              <a:rPr sz="1100" b="0" i="0">
                <a:solidFill>
                  <a:srgbClr val="7F7F7F"/>
                </a:solidFill>
                <a:latin typeface="Calibri"/>
              </a:rPr>
              <a:t>(holds attacker's</a:t>
            </a:r>
          </a:p>
          <a:p>
            <a:pPr algn="ctr"/>
            <a:r>
              <a:rPr sz="1100" b="0" i="0">
                <a:solidFill>
                  <a:srgbClr val="7F7F7F"/>
                </a:solidFill>
                <a:latin typeface="Calibri"/>
              </a:rPr>
              <a:t>public key)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265176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68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i="0" dirty="0">
                <a:solidFill>
                  <a:srgbClr val="2683C6"/>
                </a:solidFill>
                <a:latin typeface="Calibri"/>
              </a:rPr>
              <a:t>Public key</a:t>
            </a:r>
          </a:p>
          <a:p>
            <a:pPr algn="ctr"/>
            <a:r>
              <a:rPr sz="1200" b="0" i="0" dirty="0">
                <a:solidFill>
                  <a:srgbClr val="7F7F7F"/>
                </a:solidFill>
                <a:latin typeface="Calibri"/>
              </a:rPr>
              <a:t>given to the user </a:t>
            </a:r>
            <a:r>
              <a:rPr lang="en-US" sz="1200" b="0" i="0" dirty="0">
                <a:solidFill>
                  <a:srgbClr val="7F7F7F"/>
                </a:solidFill>
                <a:latin typeface="Calibri"/>
              </a:rPr>
              <a:t>-</a:t>
            </a:r>
            <a:endParaRPr sz="1200" b="0" i="0" dirty="0">
              <a:solidFill>
                <a:srgbClr val="7F7F7F"/>
              </a:solidFill>
              <a:latin typeface="Calibri"/>
            </a:endParaRPr>
          </a:p>
          <a:p>
            <a:pPr algn="ctr"/>
            <a:r>
              <a:rPr sz="1200" b="0" i="0" dirty="0">
                <a:solidFill>
                  <a:srgbClr val="7F7F7F"/>
                </a:solidFill>
                <a:latin typeface="Calibri"/>
              </a:rPr>
              <a:t>looks completely</a:t>
            </a:r>
          </a:p>
          <a:p>
            <a:pPr algn="ctr"/>
            <a:r>
              <a:rPr sz="1200" b="0" i="0" dirty="0">
                <a:solidFill>
                  <a:srgbClr val="7F7F7F"/>
                </a:solidFill>
                <a:latin typeface="Calibri"/>
              </a:rPr>
              <a:t>standard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65176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i="0">
                <a:solidFill>
                  <a:srgbClr val="C03A2B"/>
                </a:solidFill>
                <a:latin typeface="Calibri"/>
              </a:rPr>
              <a:t>Attacker</a:t>
            </a:r>
          </a:p>
          <a:p>
            <a:pPr algn="ctr"/>
            <a:r>
              <a:rPr sz="1200" b="0" i="0">
                <a:solidFill>
                  <a:srgbClr val="7F7F7F"/>
                </a:solidFill>
                <a:latin typeface="Calibri"/>
              </a:rPr>
              <a:t>reads the hidden clue</a:t>
            </a:r>
          </a:p>
          <a:p>
            <a:pPr algn="ctr"/>
            <a:r>
              <a:rPr sz="1200" b="0" i="0">
                <a:solidFill>
                  <a:srgbClr val="7F7F7F"/>
                </a:solidFill>
                <a:latin typeface="Calibri"/>
              </a:rPr>
              <a:t>and derives the</a:t>
            </a:r>
          </a:p>
          <a:p>
            <a:pPr algn="ctr"/>
            <a:r>
              <a:rPr sz="1200" b="0" i="0">
                <a:solidFill>
                  <a:srgbClr val="7F7F7F"/>
                </a:solidFill>
                <a:latin typeface="Calibri"/>
              </a:rPr>
              <a:t>private key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23944" y="3337560"/>
            <a:ext cx="310896" cy="0"/>
          </a:xfrm>
          <a:prstGeom prst="line">
            <a:avLst/>
          </a:prstGeom>
          <a:ln w="25400">
            <a:solidFill>
              <a:srgbClr val="2683C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360920" y="3337560"/>
            <a:ext cx="868680" cy="0"/>
          </a:xfrm>
          <a:prstGeom prst="line">
            <a:avLst/>
          </a:prstGeom>
          <a:ln w="25400">
            <a:solidFill>
              <a:srgbClr val="C03A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197864" y="4526280"/>
            <a:ext cx="9966960" cy="1325880"/>
          </a:xfrm>
          <a:prstGeom prst="roundRect">
            <a:avLst>
              <a:gd name="adj" fmla="val 8000"/>
            </a:avLst>
          </a:prstGeom>
          <a:solidFill>
            <a:srgbClr val="EA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472184" y="4950470"/>
            <a:ext cx="9418320" cy="5232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 dirty="0">
                <a:solidFill>
                  <a:srgbClr val="C03A2B"/>
                </a:solidFill>
                <a:latin typeface="Calibri"/>
              </a:rPr>
              <a:t>Result: </a:t>
            </a:r>
            <a:r>
              <a:rPr sz="1500" b="0" i="0" dirty="0">
                <a:solidFill>
                  <a:srgbClr val="3F3F3F"/>
                </a:solidFill>
                <a:latin typeface="Calibri"/>
              </a:rPr>
              <a:t>the victim uses what seems a perfectly valid key pair, unaware the attacker can also recover the private key.</a:t>
            </a:r>
          </a:p>
          <a:p>
            <a:pPr algn="l">
              <a:spcAft>
                <a:spcPts val="600"/>
              </a:spcAft>
            </a:pPr>
            <a:r>
              <a:rPr sz="1400" b="0" i="1" dirty="0">
                <a:solidFill>
                  <a:srgbClr val="7F7F7F"/>
                </a:solidFill>
                <a:latin typeface="Calibri"/>
              </a:rPr>
              <a:t>The demonstration shows the principle only </a:t>
            </a:r>
            <a:r>
              <a:rPr lang="en-US" sz="1400" b="0" i="1" dirty="0">
                <a:solidFill>
                  <a:srgbClr val="7F7F7F"/>
                </a:solidFill>
                <a:latin typeface="Calibri"/>
              </a:rPr>
              <a:t>-</a:t>
            </a:r>
            <a:r>
              <a:rPr sz="1400" b="0" i="1" dirty="0">
                <a:solidFill>
                  <a:srgbClr val="7F7F7F"/>
                </a:solidFill>
                <a:latin typeface="Calibri"/>
              </a:rPr>
              <a:t> honest and backdoored public keys are statistically indistinguishable to the user.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C0ED88-4959-886C-7734-4200813FB9C4}"/>
              </a:ext>
            </a:extLst>
          </p:cNvPr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6E3021-DAFB-4FFC-E64B-2B1085FA11E2}"/>
              </a:ext>
            </a:extLst>
          </p:cNvPr>
          <p:cNvSpPr/>
          <p:nvPr/>
        </p:nvSpPr>
        <p:spPr>
          <a:xfrm>
            <a:off x="1193800" y="1737360"/>
            <a:ext cx="9966959" cy="10160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324906-051E-B3FC-B30F-EE2CD95E535D}"/>
              </a:ext>
            </a:extLst>
          </p:cNvPr>
          <p:cNvSpPr txBox="1"/>
          <p:nvPr/>
        </p:nvSpPr>
        <p:spPr>
          <a:xfrm>
            <a:off x="1183640" y="1041400"/>
            <a:ext cx="96520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0" dirty="0">
                <a:solidFill>
                  <a:srgbClr val="2683C6"/>
                </a:solidFill>
                <a:latin typeface="Calibri"/>
              </a:rPr>
              <a:t>What It Means for TLS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95B398F-035D-D424-0910-425F6CD1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D7CA-65C0-4C01-A14B-CA78EC7EFDA0}" type="datetime1">
              <a:rPr lang="en-US" smtClean="0"/>
              <a:t>10/25/2026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915721F-5AF2-C598-2F9E-A61F8458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D93B7-F6B2-4F25-A1D1-1BF45C44A1C8}" type="slidenum">
              <a:rPr lang="en-US" smtClean="0"/>
              <a:t>11</a:t>
            </a:fld>
            <a:endParaRPr lang="en-US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106" y="0"/>
            <a:ext cx="1374589" cy="775285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197864" y="2011679"/>
            <a:ext cx="457200" cy="457200"/>
          </a:xfrm>
          <a:prstGeom prst="ellipse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83664" y="1965960"/>
            <a:ext cx="91440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683C6"/>
                </a:solidFill>
                <a:latin typeface="Calibri"/>
              </a:rPr>
              <a:t>Keys are the foundation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3F3F3F"/>
                </a:solidFill>
                <a:latin typeface="Calibri"/>
              </a:rPr>
              <a:t>TLS authentication and key exchange rest on the server's private key staying secret.</a:t>
            </a:r>
          </a:p>
        </p:txBody>
      </p:sp>
      <p:sp>
        <p:nvSpPr>
          <p:cNvPr id="18" name="Oval 17"/>
          <p:cNvSpPr/>
          <p:nvPr/>
        </p:nvSpPr>
        <p:spPr>
          <a:xfrm>
            <a:off x="1197864" y="2944368"/>
            <a:ext cx="457200" cy="457200"/>
          </a:xfrm>
          <a:prstGeom prst="ellipse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3664" y="2898648"/>
            <a:ext cx="91440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683C6"/>
                </a:solidFill>
                <a:latin typeface="Calibri"/>
              </a:rPr>
              <a:t>Compromised at birth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3F3F3F"/>
                </a:solidFill>
                <a:latin typeface="Calibri"/>
              </a:rPr>
              <a:t>If that key was made by a backdoored generator, it is exposed from the very first handshake.</a:t>
            </a:r>
          </a:p>
        </p:txBody>
      </p:sp>
      <p:sp>
        <p:nvSpPr>
          <p:cNvPr id="20" name="Oval 19"/>
          <p:cNvSpPr/>
          <p:nvPr/>
        </p:nvSpPr>
        <p:spPr>
          <a:xfrm>
            <a:off x="1197864" y="3877055"/>
            <a:ext cx="457200" cy="457200"/>
          </a:xfrm>
          <a:prstGeom prst="ellipse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83664" y="3831335"/>
            <a:ext cx="9144000" cy="5180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 dirty="0">
                <a:solidFill>
                  <a:srgbClr val="2683C6"/>
                </a:solidFill>
                <a:latin typeface="Calibri"/>
              </a:rPr>
              <a:t>Passive decryption</a:t>
            </a:r>
          </a:p>
          <a:p>
            <a:pPr algn="l">
              <a:spcAft>
                <a:spcPts val="200"/>
              </a:spcAft>
            </a:pPr>
            <a:r>
              <a:rPr sz="1500" b="0" i="0" dirty="0">
                <a:solidFill>
                  <a:srgbClr val="3F3F3F"/>
                </a:solidFill>
                <a:latin typeface="Calibri"/>
              </a:rPr>
              <a:t>An attacker who recovers the key can quietly decrypt or impersonate </a:t>
            </a:r>
            <a:r>
              <a:rPr lang="en-US" sz="1500" b="0" i="0" dirty="0">
                <a:solidFill>
                  <a:srgbClr val="3F3F3F"/>
                </a:solidFill>
                <a:latin typeface="Calibri"/>
              </a:rPr>
              <a:t>-</a:t>
            </a:r>
            <a:r>
              <a:rPr sz="1500" b="0" i="0" dirty="0">
                <a:solidFill>
                  <a:srgbClr val="3F3F3F"/>
                </a:solidFill>
                <a:latin typeface="Calibri"/>
              </a:rPr>
              <a:t> no active attack needed.</a:t>
            </a:r>
          </a:p>
        </p:txBody>
      </p:sp>
      <p:sp>
        <p:nvSpPr>
          <p:cNvPr id="22" name="Oval 21"/>
          <p:cNvSpPr/>
          <p:nvPr/>
        </p:nvSpPr>
        <p:spPr>
          <a:xfrm>
            <a:off x="1197864" y="4809744"/>
            <a:ext cx="457200" cy="457200"/>
          </a:xfrm>
          <a:prstGeom prst="ellipse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83664" y="4764024"/>
            <a:ext cx="91440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683C6"/>
                </a:solidFill>
                <a:latin typeface="Calibri"/>
              </a:rPr>
              <a:t>Trust is misplaced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3F3F3F"/>
                </a:solidFill>
                <a:latin typeface="Calibri"/>
              </a:rPr>
              <a:t>Certificates and cipher suites look flawless; the weakness is upstream, in how the key was generated.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C0ED88-4959-886C-7734-4200813FB9C4}"/>
              </a:ext>
            </a:extLst>
          </p:cNvPr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accent2"/>
              </a:solidFill>
            </a:endParaRP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95B398F-035D-D424-0910-425F6CD1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D7CA-65C0-4C01-A14B-CA78EC7EFDA0}" type="datetime1">
              <a:rPr lang="en-US" smtClean="0"/>
              <a:t>10/25/2026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915721F-5AF2-C598-2F9E-A61F8458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D93B7-F6B2-4F25-A1D1-1BF45C44A1C8}" type="slidenum">
              <a:rPr lang="en-US" smtClean="0"/>
              <a:t>12</a:t>
            </a:fld>
            <a:endParaRPr lang="en-US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106" y="0"/>
            <a:ext cx="1374589" cy="7752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97864" y="1828800"/>
            <a:ext cx="23774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0" b="1" i="0">
                <a:solidFill>
                  <a:srgbClr val="1CADE4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14884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2683C6"/>
                </a:solidFill>
                <a:latin typeface="Calibri"/>
              </a:rPr>
              <a:t>IMPACT &amp; DEFENCE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20040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3F3F3F"/>
                </a:solidFill>
                <a:latin typeface="Calibri"/>
              </a:rPr>
              <a:t>Hard to see, but not impossible to resist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02336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7F7F7F"/>
                </a:solidFill>
                <a:latin typeface="Calibri"/>
              </a:rPr>
              <a:t>Detection  ·  Dual_EC_DRBG  ·  Defences  ·  Takeaways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C0ED88-4959-886C-7734-4200813FB9C4}"/>
              </a:ext>
            </a:extLst>
          </p:cNvPr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6E3021-DAFB-4FFC-E64B-2B1085FA11E2}"/>
              </a:ext>
            </a:extLst>
          </p:cNvPr>
          <p:cNvSpPr/>
          <p:nvPr/>
        </p:nvSpPr>
        <p:spPr>
          <a:xfrm>
            <a:off x="1193800" y="1737360"/>
            <a:ext cx="9966959" cy="10160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324906-051E-B3FC-B30F-EE2CD95E535D}"/>
              </a:ext>
            </a:extLst>
          </p:cNvPr>
          <p:cNvSpPr txBox="1"/>
          <p:nvPr/>
        </p:nvSpPr>
        <p:spPr>
          <a:xfrm>
            <a:off x="1183640" y="1041400"/>
            <a:ext cx="96520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0" dirty="0">
                <a:solidFill>
                  <a:srgbClr val="2683C6"/>
                </a:solidFill>
                <a:latin typeface="Calibri"/>
              </a:rPr>
              <a:t>Why It Stays Hidden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95B398F-035D-D424-0910-425F6CD1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D7CA-65C0-4C01-A14B-CA78EC7EFDA0}" type="datetime1">
              <a:rPr lang="en-US" smtClean="0"/>
              <a:t>10/25/2026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915721F-5AF2-C598-2F9E-A61F8458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D93B7-F6B2-4F25-A1D1-1BF45C44A1C8}" type="slidenum">
              <a:rPr lang="en-US" smtClean="0"/>
              <a:t>13</a:t>
            </a:fld>
            <a:endParaRPr lang="en-US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106" y="0"/>
            <a:ext cx="1374589" cy="775285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197864" y="1965960"/>
            <a:ext cx="3169920" cy="1280160"/>
          </a:xfrm>
          <a:prstGeom prst="roundRect">
            <a:avLst>
              <a:gd name="adj" fmla="val 8000"/>
            </a:avLst>
          </a:prstGeom>
          <a:solidFill>
            <a:srgbClr val="EA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80744" y="2103120"/>
            <a:ext cx="2804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2683C6"/>
                </a:solidFill>
                <a:latin typeface="Calibri"/>
              </a:rPr>
              <a:t>Looks correct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3F3F3F"/>
                </a:solidFill>
                <a:latin typeface="Calibri"/>
              </a:rPr>
              <a:t>Every test of inputs and outputs passes; the key works normally.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96384" y="1965960"/>
            <a:ext cx="3169920" cy="1280160"/>
          </a:xfrm>
          <a:prstGeom prst="roundRect">
            <a:avLst>
              <a:gd name="adj" fmla="val 8000"/>
            </a:avLst>
          </a:prstGeom>
          <a:solidFill>
            <a:srgbClr val="EA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79264" y="2103120"/>
            <a:ext cx="2804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2683C6"/>
                </a:solidFill>
                <a:latin typeface="Calibri"/>
              </a:rPr>
              <a:t>Indistinguishable output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3F3F3F"/>
                </a:solidFill>
                <a:latin typeface="Calibri"/>
              </a:rPr>
              <a:t>Backdoored values are drawn to match the honest distribution.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94904" y="1965960"/>
            <a:ext cx="3169920" cy="1280160"/>
          </a:xfrm>
          <a:prstGeom prst="roundRect">
            <a:avLst>
              <a:gd name="adj" fmla="val 8000"/>
            </a:avLst>
          </a:prstGeom>
          <a:solidFill>
            <a:srgbClr val="EA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77784" y="2103120"/>
            <a:ext cx="2804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2683C6"/>
                </a:solidFill>
                <a:latin typeface="Calibri"/>
              </a:rPr>
              <a:t>Public key only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3F3F3F"/>
                </a:solidFill>
                <a:latin typeface="Calibri"/>
              </a:rPr>
              <a:t>Inspecting the device reveals a public key that leaks nothing.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97864" y="3383280"/>
            <a:ext cx="3169920" cy="1280160"/>
          </a:xfrm>
          <a:prstGeom prst="roundRect">
            <a:avLst>
              <a:gd name="adj" fmla="val 8000"/>
            </a:avLst>
          </a:prstGeom>
          <a:solidFill>
            <a:srgbClr val="EA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80744" y="3520440"/>
            <a:ext cx="2804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2683C6"/>
                </a:solidFill>
                <a:latin typeface="Calibri"/>
              </a:rPr>
              <a:t>No extra traffic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3F3F3F"/>
                </a:solidFill>
                <a:latin typeface="Calibri"/>
              </a:rPr>
              <a:t>The secret rides inside data that is sent anyway.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96384" y="3383280"/>
            <a:ext cx="3169920" cy="1280160"/>
          </a:xfrm>
          <a:prstGeom prst="roundRect">
            <a:avLst>
              <a:gd name="adj" fmla="val 8000"/>
            </a:avLst>
          </a:prstGeom>
          <a:solidFill>
            <a:srgbClr val="EA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79264" y="3520440"/>
            <a:ext cx="2804160" cy="6694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 dirty="0">
                <a:solidFill>
                  <a:srgbClr val="2683C6"/>
                </a:solidFill>
                <a:latin typeface="Calibri"/>
              </a:rPr>
              <a:t>Needs the source</a:t>
            </a:r>
          </a:p>
          <a:p>
            <a:pPr algn="l">
              <a:spcAft>
                <a:spcPts val="300"/>
              </a:spcAft>
            </a:pPr>
            <a:r>
              <a:rPr sz="1300" b="0" i="0" dirty="0">
                <a:solidFill>
                  <a:srgbClr val="3F3F3F"/>
                </a:solidFill>
                <a:latin typeface="Calibri"/>
              </a:rPr>
              <a:t>Only auditing the design and randomness </a:t>
            </a:r>
            <a:r>
              <a:rPr lang="en-US" sz="1300" b="0" i="0" dirty="0">
                <a:solidFill>
                  <a:srgbClr val="3F3F3F"/>
                </a:solidFill>
                <a:latin typeface="Calibri"/>
              </a:rPr>
              <a:t>-</a:t>
            </a:r>
            <a:r>
              <a:rPr sz="1300" b="0" i="0" dirty="0">
                <a:solidFill>
                  <a:srgbClr val="3F3F3F"/>
                </a:solidFill>
                <a:latin typeface="Calibri"/>
              </a:rPr>
              <a:t> not the output </a:t>
            </a:r>
            <a:r>
              <a:rPr lang="en-US" sz="1300" b="0" i="0" dirty="0">
                <a:solidFill>
                  <a:srgbClr val="3F3F3F"/>
                </a:solidFill>
                <a:latin typeface="Calibri"/>
              </a:rPr>
              <a:t>-</a:t>
            </a:r>
            <a:r>
              <a:rPr sz="1300" b="0" i="0" dirty="0">
                <a:solidFill>
                  <a:srgbClr val="3F3F3F"/>
                </a:solidFill>
                <a:latin typeface="Calibri"/>
              </a:rPr>
              <a:t> can expose it.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94904" y="3383280"/>
            <a:ext cx="3169920" cy="1280160"/>
          </a:xfrm>
          <a:prstGeom prst="roundRect">
            <a:avLst>
              <a:gd name="adj" fmla="val 8000"/>
            </a:avLst>
          </a:prstGeom>
          <a:solidFill>
            <a:srgbClr val="EA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77784" y="3520440"/>
            <a:ext cx="2804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2683C6"/>
                </a:solidFill>
                <a:latin typeface="Calibri"/>
              </a:rPr>
              <a:t>Supply-chain depth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3F3F3F"/>
                </a:solidFill>
                <a:latin typeface="Calibri"/>
              </a:rPr>
              <a:t>The flaw may be introduced far upstream of the end user.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C0ED88-4959-886C-7734-4200813FB9C4}"/>
              </a:ext>
            </a:extLst>
          </p:cNvPr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6E3021-DAFB-4FFC-E64B-2B1085FA11E2}"/>
              </a:ext>
            </a:extLst>
          </p:cNvPr>
          <p:cNvSpPr/>
          <p:nvPr/>
        </p:nvSpPr>
        <p:spPr>
          <a:xfrm>
            <a:off x="1193800" y="1737360"/>
            <a:ext cx="9966959" cy="10160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324906-051E-B3FC-B30F-EE2CD95E535D}"/>
              </a:ext>
            </a:extLst>
          </p:cNvPr>
          <p:cNvSpPr txBox="1"/>
          <p:nvPr/>
        </p:nvSpPr>
        <p:spPr>
          <a:xfrm>
            <a:off x="1183640" y="1041400"/>
            <a:ext cx="96520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0" dirty="0">
                <a:solidFill>
                  <a:srgbClr val="2683C6"/>
                </a:solidFill>
                <a:latin typeface="Calibri"/>
              </a:rPr>
              <a:t>A Real-World Echo: Dual_EC_DRBG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95B398F-035D-D424-0910-425F6CD1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D7CA-65C0-4C01-A14B-CA78EC7EFDA0}" type="datetime1">
              <a:rPr lang="en-US" smtClean="0"/>
              <a:t>10/25/2026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915721F-5AF2-C598-2F9E-A61F8458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D93B7-F6B2-4F25-A1D1-1BF45C44A1C8}" type="slidenum">
              <a:rPr lang="en-US" smtClean="0"/>
              <a:t>14</a:t>
            </a:fld>
            <a:endParaRPr lang="en-US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106" y="0"/>
            <a:ext cx="1374589" cy="7752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97864" y="1965960"/>
            <a:ext cx="6035040" cy="2364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1" i="0" dirty="0">
                <a:solidFill>
                  <a:srgbClr val="3F3F3F"/>
                </a:solidFill>
                <a:latin typeface="Calibri"/>
              </a:rPr>
              <a:t>Kleptography stopped being purely academic.</a:t>
            </a:r>
          </a:p>
          <a:p>
            <a:pPr algn="l">
              <a:spcAft>
                <a:spcPts val="1400"/>
              </a:spcAft>
            </a:pPr>
            <a:r>
              <a:rPr sz="1500" b="1" i="0" dirty="0" err="1">
                <a:solidFill>
                  <a:srgbClr val="2683C6"/>
                </a:solidFill>
                <a:latin typeface="Calibri"/>
              </a:rPr>
              <a:t>Dual_EC_DRBG</a:t>
            </a:r>
            <a:r>
              <a:rPr sz="1500" b="1" i="0" dirty="0">
                <a:solidFill>
                  <a:srgbClr val="2683C6"/>
                </a:solidFill>
                <a:latin typeface="Calibri"/>
              </a:rPr>
              <a:t> </a:t>
            </a:r>
            <a:r>
              <a:rPr sz="1500" b="0" i="0" dirty="0">
                <a:solidFill>
                  <a:srgbClr val="3F3F3F"/>
                </a:solidFill>
                <a:latin typeface="Calibri"/>
              </a:rPr>
              <a:t>was a NIST-</a:t>
            </a:r>
            <a:r>
              <a:rPr sz="1500" b="0" i="0" dirty="0" err="1">
                <a:solidFill>
                  <a:srgbClr val="3F3F3F"/>
                </a:solidFill>
                <a:latin typeface="Calibri"/>
              </a:rPr>
              <a:t>standardised</a:t>
            </a:r>
            <a:r>
              <a:rPr sz="1500" b="0" i="0" dirty="0">
                <a:solidFill>
                  <a:srgbClr val="3F3F3F"/>
                </a:solidFill>
                <a:latin typeface="Calibri"/>
              </a:rPr>
              <a:t> random-number generator (2006).</a:t>
            </a:r>
          </a:p>
          <a:p>
            <a:pPr algn="l">
              <a:spcAft>
                <a:spcPts val="1400"/>
              </a:spcAft>
            </a:pPr>
            <a:r>
              <a:rPr sz="1500" b="0" i="0" dirty="0">
                <a:solidFill>
                  <a:srgbClr val="3F3F3F"/>
                </a:solidFill>
                <a:latin typeface="Calibri"/>
              </a:rPr>
              <a:t>Researchers showed its constants </a:t>
            </a:r>
            <a:r>
              <a:rPr sz="1500" b="1" i="0" dirty="0">
                <a:solidFill>
                  <a:srgbClr val="C03A2B"/>
                </a:solidFill>
                <a:latin typeface="Calibri"/>
              </a:rPr>
              <a:t>could hide a SETUP-style trapdoor</a:t>
            </a:r>
            <a:r>
              <a:rPr sz="1500" b="0" i="0" dirty="0">
                <a:solidFill>
                  <a:srgbClr val="3F3F3F"/>
                </a:solidFill>
                <a:latin typeface="Calibri"/>
              </a:rPr>
              <a:t> </a:t>
            </a:r>
            <a:r>
              <a:rPr lang="en-US" sz="1500" b="0" i="0" dirty="0">
                <a:solidFill>
                  <a:srgbClr val="3F3F3F"/>
                </a:solidFill>
                <a:latin typeface="Calibri"/>
              </a:rPr>
              <a:t>-</a:t>
            </a:r>
            <a:r>
              <a:rPr sz="1500" b="0" i="0" dirty="0">
                <a:solidFill>
                  <a:srgbClr val="3F3F3F"/>
                </a:solidFill>
                <a:latin typeface="Calibri"/>
              </a:rPr>
              <a:t> whoever chose them might predict its output.</a:t>
            </a:r>
          </a:p>
          <a:p>
            <a:pPr algn="l">
              <a:spcAft>
                <a:spcPts val="1400"/>
              </a:spcAft>
            </a:pPr>
            <a:r>
              <a:rPr sz="1500" b="0" i="0" dirty="0">
                <a:solidFill>
                  <a:srgbClr val="3F3F3F"/>
                </a:solidFill>
                <a:latin typeface="Calibri"/>
              </a:rPr>
              <a:t>It was later withdrawn, but had already shipped in widely used security products.</a:t>
            </a:r>
          </a:p>
          <a:p>
            <a:pPr algn="l">
              <a:spcAft>
                <a:spcPts val="1400"/>
              </a:spcAft>
            </a:pPr>
            <a:r>
              <a:rPr sz="1500" b="0" i="1" dirty="0">
                <a:solidFill>
                  <a:srgbClr val="7F7F7F"/>
                </a:solidFill>
                <a:latin typeface="Calibri"/>
              </a:rPr>
              <a:t>The lesson Young &amp; Yung gave in 1996 had become real.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2240279"/>
            <a:ext cx="3291840" cy="329184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0" y="3388628"/>
            <a:ext cx="2834640" cy="995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 dirty="0">
                <a:solidFill>
                  <a:srgbClr val="C03A2B"/>
                </a:solidFill>
                <a:latin typeface="Calibri"/>
              </a:rPr>
              <a:t>“Unexplained constants”</a:t>
            </a:r>
          </a:p>
          <a:p>
            <a:pPr algn="l">
              <a:spcAft>
                <a:spcPts val="800"/>
              </a:spcAft>
            </a:pPr>
            <a:r>
              <a:rPr sz="1400" b="0" i="0" dirty="0">
                <a:solidFill>
                  <a:srgbClr val="3F3F3F"/>
                </a:solidFill>
                <a:latin typeface="Calibri"/>
              </a:rPr>
              <a:t>in a standard are a red flag </a:t>
            </a:r>
            <a:r>
              <a:rPr lang="en-US" sz="1400" b="0" i="0" dirty="0">
                <a:solidFill>
                  <a:srgbClr val="3F3F3F"/>
                </a:solidFill>
                <a:latin typeface="Calibri"/>
              </a:rPr>
              <a:t>-</a:t>
            </a:r>
            <a:r>
              <a:rPr sz="1400" b="0" i="0" dirty="0">
                <a:solidFill>
                  <a:srgbClr val="3F3F3F"/>
                </a:solidFill>
                <a:latin typeface="Calibri"/>
              </a:rPr>
              <a:t> if no one can show where a value came from, no one can rule out a trapdoor.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C0ED88-4959-886C-7734-4200813FB9C4}"/>
              </a:ext>
            </a:extLst>
          </p:cNvPr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6E3021-DAFB-4FFC-E64B-2B1085FA11E2}"/>
              </a:ext>
            </a:extLst>
          </p:cNvPr>
          <p:cNvSpPr/>
          <p:nvPr/>
        </p:nvSpPr>
        <p:spPr>
          <a:xfrm>
            <a:off x="1193800" y="1737360"/>
            <a:ext cx="9966959" cy="10160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324906-051E-B3FC-B30F-EE2CD95E535D}"/>
              </a:ext>
            </a:extLst>
          </p:cNvPr>
          <p:cNvSpPr txBox="1"/>
          <p:nvPr/>
        </p:nvSpPr>
        <p:spPr>
          <a:xfrm>
            <a:off x="1183640" y="1041400"/>
            <a:ext cx="96520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0" dirty="0">
                <a:solidFill>
                  <a:srgbClr val="2683C6"/>
                </a:solidFill>
                <a:latin typeface="Calibri"/>
              </a:rPr>
              <a:t>Defences &amp; Mitigations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95B398F-035D-D424-0910-425F6CD1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D7CA-65C0-4C01-A14B-CA78EC7EFDA0}" type="datetime1">
              <a:rPr lang="en-US" smtClean="0"/>
              <a:t>10/25/2026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915721F-5AF2-C598-2F9E-A61F8458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D93B7-F6B2-4F25-A1D1-1BF45C44A1C8}" type="slidenum">
              <a:rPr lang="en-US" smtClean="0"/>
              <a:t>15</a:t>
            </a:fld>
            <a:endParaRPr lang="en-US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106" y="0"/>
            <a:ext cx="1374589" cy="775285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197864" y="2011679"/>
            <a:ext cx="457200" cy="457200"/>
          </a:xfrm>
          <a:prstGeom prst="ellipse">
            <a:avLst/>
          </a:prstGeom>
          <a:solidFill>
            <a:srgbClr val="1CA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6232" y="1965960"/>
            <a:ext cx="4187952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2683C6"/>
                </a:solidFill>
                <a:latin typeface="Calibri"/>
              </a:rPr>
              <a:t>Open, inspectable design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3F3F3F"/>
                </a:solidFill>
                <a:latin typeface="Calibri"/>
              </a:rPr>
              <a:t>Prefer open-source, auditable algorithms over secret black boxes.</a:t>
            </a:r>
          </a:p>
        </p:txBody>
      </p:sp>
      <p:sp>
        <p:nvSpPr>
          <p:cNvPr id="18" name="Oval 17"/>
          <p:cNvSpPr/>
          <p:nvPr/>
        </p:nvSpPr>
        <p:spPr>
          <a:xfrm>
            <a:off x="6318504" y="2011679"/>
            <a:ext cx="457200" cy="457200"/>
          </a:xfrm>
          <a:prstGeom prst="ellipse">
            <a:avLst/>
          </a:prstGeom>
          <a:solidFill>
            <a:srgbClr val="1CA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6872" y="1965960"/>
            <a:ext cx="4187952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2683C6"/>
                </a:solidFill>
                <a:latin typeface="Calibri"/>
              </a:rPr>
              <a:t>Nothing-up-my-sleeve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3F3F3F"/>
                </a:solidFill>
                <a:latin typeface="Calibri"/>
              </a:rPr>
              <a:t>Use constants with a public, explainable origin.</a:t>
            </a:r>
          </a:p>
        </p:txBody>
      </p:sp>
      <p:sp>
        <p:nvSpPr>
          <p:cNvPr id="20" name="Oval 19"/>
          <p:cNvSpPr/>
          <p:nvPr/>
        </p:nvSpPr>
        <p:spPr>
          <a:xfrm>
            <a:off x="1197864" y="3383279"/>
            <a:ext cx="457200" cy="457200"/>
          </a:xfrm>
          <a:prstGeom prst="ellipse">
            <a:avLst/>
          </a:prstGeom>
          <a:solidFill>
            <a:srgbClr val="1CA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56232" y="3337560"/>
            <a:ext cx="4187952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2683C6"/>
                </a:solidFill>
                <a:latin typeface="Calibri"/>
              </a:rPr>
              <a:t>Deterministic key gen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3F3F3F"/>
                </a:solidFill>
                <a:latin typeface="Calibri"/>
              </a:rPr>
              <a:t>Reproducible generation lets independent parties verify the result.</a:t>
            </a:r>
          </a:p>
        </p:txBody>
      </p:sp>
      <p:sp>
        <p:nvSpPr>
          <p:cNvPr id="22" name="Oval 21"/>
          <p:cNvSpPr/>
          <p:nvPr/>
        </p:nvSpPr>
        <p:spPr>
          <a:xfrm>
            <a:off x="6318504" y="3383279"/>
            <a:ext cx="457200" cy="457200"/>
          </a:xfrm>
          <a:prstGeom prst="ellipse">
            <a:avLst/>
          </a:prstGeom>
          <a:solidFill>
            <a:srgbClr val="1CA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6872" y="3337560"/>
            <a:ext cx="4187952" cy="702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 dirty="0">
                <a:solidFill>
                  <a:srgbClr val="2683C6"/>
                </a:solidFill>
                <a:latin typeface="Calibri"/>
              </a:rPr>
              <a:t>Verify the randomness</a:t>
            </a:r>
          </a:p>
          <a:p>
            <a:pPr algn="l">
              <a:spcAft>
                <a:spcPts val="200"/>
              </a:spcAft>
            </a:pPr>
            <a:r>
              <a:rPr sz="1400" b="0" i="0" dirty="0">
                <a:solidFill>
                  <a:srgbClr val="3F3F3F"/>
                </a:solidFill>
                <a:latin typeface="Calibri"/>
              </a:rPr>
              <a:t>Vet RNGs and entropy sources</a:t>
            </a:r>
            <a:r>
              <a:rPr lang="en-US" sz="1400" b="0" i="0" dirty="0">
                <a:solidFill>
                  <a:srgbClr val="3F3F3F"/>
                </a:solidFill>
                <a:latin typeface="Calibri"/>
              </a:rPr>
              <a:t>,</a:t>
            </a:r>
            <a:r>
              <a:rPr sz="1400" b="0" i="0" dirty="0">
                <a:solidFill>
                  <a:srgbClr val="3F3F3F"/>
                </a:solidFill>
                <a:latin typeface="Calibri"/>
              </a:rPr>
              <a:t> the usual home of a trapdoor.</a:t>
            </a:r>
          </a:p>
        </p:txBody>
      </p:sp>
      <p:sp>
        <p:nvSpPr>
          <p:cNvPr id="24" name="Oval 23"/>
          <p:cNvSpPr/>
          <p:nvPr/>
        </p:nvSpPr>
        <p:spPr>
          <a:xfrm>
            <a:off x="1197864" y="4754880"/>
            <a:ext cx="457200" cy="457200"/>
          </a:xfrm>
          <a:prstGeom prst="ellipse">
            <a:avLst/>
          </a:prstGeom>
          <a:solidFill>
            <a:srgbClr val="1CA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56232" y="4709160"/>
            <a:ext cx="4187952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2683C6"/>
                </a:solidFill>
                <a:latin typeface="Calibri"/>
              </a:rPr>
              <a:t>Formal &amp; third-party audit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3F3F3F"/>
                </a:solidFill>
                <a:latin typeface="Calibri"/>
              </a:rPr>
              <a:t>Certification and independent review of implementations.</a:t>
            </a:r>
          </a:p>
        </p:txBody>
      </p:sp>
      <p:sp>
        <p:nvSpPr>
          <p:cNvPr id="26" name="Oval 25"/>
          <p:cNvSpPr/>
          <p:nvPr/>
        </p:nvSpPr>
        <p:spPr>
          <a:xfrm>
            <a:off x="6318504" y="4754880"/>
            <a:ext cx="457200" cy="457200"/>
          </a:xfrm>
          <a:prstGeom prst="ellipse">
            <a:avLst/>
          </a:prstGeom>
          <a:solidFill>
            <a:srgbClr val="1CA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4709160"/>
            <a:ext cx="4187952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2683C6"/>
                </a:solidFill>
                <a:latin typeface="Calibri"/>
              </a:rPr>
              <a:t>Defence in depth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3F3F3F"/>
                </a:solidFill>
                <a:latin typeface="Calibri"/>
              </a:rPr>
              <a:t>Combine sources and layers so one tampered part is not fatal.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C0ED88-4959-886C-7734-4200813FB9C4}"/>
              </a:ext>
            </a:extLst>
          </p:cNvPr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6E3021-DAFB-4FFC-E64B-2B1085FA11E2}"/>
              </a:ext>
            </a:extLst>
          </p:cNvPr>
          <p:cNvSpPr/>
          <p:nvPr/>
        </p:nvSpPr>
        <p:spPr>
          <a:xfrm>
            <a:off x="1193800" y="1737360"/>
            <a:ext cx="9966959" cy="10160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324906-051E-B3FC-B30F-EE2CD95E535D}"/>
              </a:ext>
            </a:extLst>
          </p:cNvPr>
          <p:cNvSpPr txBox="1"/>
          <p:nvPr/>
        </p:nvSpPr>
        <p:spPr>
          <a:xfrm>
            <a:off x="1183640" y="1041400"/>
            <a:ext cx="96520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0" dirty="0">
                <a:solidFill>
                  <a:srgbClr val="2683C6"/>
                </a:solidFill>
                <a:latin typeface="Calibri"/>
              </a:rPr>
              <a:t>Key Takeaways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95B398F-035D-D424-0910-425F6CD1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D7CA-65C0-4C01-A14B-CA78EC7EFDA0}" type="datetime1">
              <a:rPr lang="en-US" smtClean="0"/>
              <a:t>10/25/2026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915721F-5AF2-C598-2F9E-A61F8458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D93B7-F6B2-4F25-A1D1-1BF45C44A1C8}" type="slidenum">
              <a:rPr lang="en-US" smtClean="0"/>
              <a:t>16</a:t>
            </a:fld>
            <a:endParaRPr lang="en-US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106" y="0"/>
            <a:ext cx="1374589" cy="775285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197864" y="1947672"/>
            <a:ext cx="420624" cy="420624"/>
          </a:xfrm>
          <a:prstGeom prst="ellipse">
            <a:avLst/>
          </a:prstGeom>
          <a:solidFill>
            <a:srgbClr val="1CA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9656" y="1920240"/>
            <a:ext cx="93268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3F3F3F"/>
                </a:solidFill>
                <a:latin typeface="Calibri"/>
              </a:rPr>
              <a:t>Black-box cryptography asks for trust you often cannot verify.</a:t>
            </a:r>
          </a:p>
        </p:txBody>
      </p:sp>
      <p:sp>
        <p:nvSpPr>
          <p:cNvPr id="18" name="Oval 17"/>
          <p:cNvSpPr/>
          <p:nvPr/>
        </p:nvSpPr>
        <p:spPr>
          <a:xfrm>
            <a:off x="1197864" y="2660903"/>
            <a:ext cx="420624" cy="420624"/>
          </a:xfrm>
          <a:prstGeom prst="ellipse">
            <a:avLst/>
          </a:prstGeom>
          <a:solidFill>
            <a:srgbClr val="1CA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9656" y="2633472"/>
            <a:ext cx="93268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3F3F3F"/>
                </a:solidFill>
                <a:latin typeface="Calibri"/>
              </a:rPr>
              <a:t>Kleptography shows a backdoor can be secure for the attacker and invisible to the victim.</a:t>
            </a:r>
          </a:p>
        </p:txBody>
      </p:sp>
      <p:sp>
        <p:nvSpPr>
          <p:cNvPr id="20" name="Oval 19"/>
          <p:cNvSpPr/>
          <p:nvPr/>
        </p:nvSpPr>
        <p:spPr>
          <a:xfrm>
            <a:off x="1197864" y="3374136"/>
            <a:ext cx="420624" cy="420624"/>
          </a:xfrm>
          <a:prstGeom prst="ellipse">
            <a:avLst/>
          </a:prstGeom>
          <a:solidFill>
            <a:srgbClr val="1CA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19656" y="3552777"/>
            <a:ext cx="932688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 dirty="0">
                <a:solidFill>
                  <a:srgbClr val="3F3F3F"/>
                </a:solidFill>
                <a:latin typeface="Calibri"/>
              </a:rPr>
              <a:t>Asymmetric SETUP backdoors survive discovery the recovery key never ships.</a:t>
            </a:r>
          </a:p>
        </p:txBody>
      </p:sp>
      <p:sp>
        <p:nvSpPr>
          <p:cNvPr id="22" name="Oval 21"/>
          <p:cNvSpPr/>
          <p:nvPr/>
        </p:nvSpPr>
        <p:spPr>
          <a:xfrm>
            <a:off x="1197864" y="4087368"/>
            <a:ext cx="420624" cy="420624"/>
          </a:xfrm>
          <a:prstGeom prst="ellipse">
            <a:avLst/>
          </a:prstGeom>
          <a:solidFill>
            <a:srgbClr val="1CA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19656" y="4059935"/>
            <a:ext cx="93268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3F3F3F"/>
                </a:solidFill>
                <a:latin typeface="Calibri"/>
              </a:rPr>
              <a:t>A compromised key dooms RSA/TLS from the first handshake, with no visible attack.</a:t>
            </a:r>
          </a:p>
        </p:txBody>
      </p:sp>
      <p:sp>
        <p:nvSpPr>
          <p:cNvPr id="24" name="Oval 23"/>
          <p:cNvSpPr/>
          <p:nvPr/>
        </p:nvSpPr>
        <p:spPr>
          <a:xfrm>
            <a:off x="1197864" y="4800600"/>
            <a:ext cx="420624" cy="420624"/>
          </a:xfrm>
          <a:prstGeom prst="ellipse">
            <a:avLst/>
          </a:prstGeom>
          <a:solidFill>
            <a:srgbClr val="1CA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19656" y="4773168"/>
            <a:ext cx="93268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 dirty="0" err="1">
                <a:solidFill>
                  <a:srgbClr val="3F3F3F"/>
                </a:solidFill>
                <a:latin typeface="Calibri"/>
              </a:rPr>
              <a:t>Dual_EC_DRBG</a:t>
            </a:r>
            <a:r>
              <a:rPr sz="1600" b="0" i="0" dirty="0">
                <a:solidFill>
                  <a:srgbClr val="3F3F3F"/>
                </a:solidFill>
                <a:latin typeface="Calibri"/>
              </a:rPr>
              <a:t> proved the threat is real, not just theory.</a:t>
            </a:r>
          </a:p>
        </p:txBody>
      </p:sp>
      <p:sp>
        <p:nvSpPr>
          <p:cNvPr id="26" name="Oval 25"/>
          <p:cNvSpPr/>
          <p:nvPr/>
        </p:nvSpPr>
        <p:spPr>
          <a:xfrm>
            <a:off x="1197864" y="5513832"/>
            <a:ext cx="420624" cy="420624"/>
          </a:xfrm>
          <a:prstGeom prst="ellipse">
            <a:avLst/>
          </a:prstGeom>
          <a:solidFill>
            <a:srgbClr val="1CA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19656" y="5692473"/>
            <a:ext cx="932688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 dirty="0">
                <a:solidFill>
                  <a:srgbClr val="3F3F3F"/>
                </a:solidFill>
                <a:latin typeface="Calibri"/>
              </a:rPr>
              <a:t>Transparency, verifiable randomness and open review are the real </a:t>
            </a:r>
            <a:r>
              <a:rPr sz="1600" b="0" i="0" dirty="0" err="1">
                <a:solidFill>
                  <a:srgbClr val="3F3F3F"/>
                </a:solidFill>
                <a:latin typeface="Calibri"/>
              </a:rPr>
              <a:t>defences</a:t>
            </a:r>
            <a:r>
              <a:rPr sz="1600" b="0" i="0" dirty="0">
                <a:solidFill>
                  <a:srgbClr val="3F3F3F"/>
                </a:solidFill>
                <a:latin typeface="Calibri"/>
              </a:rPr>
              <a:t> trust must be earned.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C0ED88-4959-886C-7734-4200813FB9C4}"/>
              </a:ext>
            </a:extLst>
          </p:cNvPr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accent2"/>
              </a:solidFill>
            </a:endParaRP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95B398F-035D-D424-0910-425F6CD1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D7CA-65C0-4C01-A14B-CA78EC7EFDA0}" type="datetime1">
              <a:rPr lang="en-US" smtClean="0"/>
              <a:t>10/25/2026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915721F-5AF2-C598-2F9E-A61F8458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D93B7-F6B2-4F25-A1D1-1BF45C44A1C8}" type="slidenum">
              <a:rPr lang="en-US" smtClean="0"/>
              <a:t>17</a:t>
            </a:fld>
            <a:endParaRPr lang="en-US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106" y="0"/>
            <a:ext cx="1374589" cy="7752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97864" y="2103120"/>
            <a:ext cx="99669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1" i="0">
                <a:solidFill>
                  <a:srgbClr val="2683C6"/>
                </a:solidFill>
                <a:latin typeface="Calibri"/>
              </a:rP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7864" y="3291840"/>
            <a:ext cx="9966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0" i="0">
                <a:solidFill>
                  <a:srgbClr val="3F3F3F"/>
                </a:solidFill>
                <a:latin typeface="Calibri"/>
              </a:rPr>
              <a:t>Questions?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7864" y="4114800"/>
            <a:ext cx="9966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7F7F7F"/>
                </a:solidFill>
                <a:latin typeface="Calibri"/>
              </a:rPr>
              <a:t>Subhash Kumar  ·  PhD Scholar, IIITK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7F7F7F"/>
                </a:solidFill>
                <a:latin typeface="Calibri"/>
              </a:rPr>
              <a:t>After A. Young &amp; M. Yung, “The Dark Side of Black-Box Cryptography”, CRYPTO 1996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</TotalTime>
  <Words>1261</Words>
  <Application>Microsoft Office PowerPoint</Application>
  <PresentationFormat>Widescreen</PresentationFormat>
  <Paragraphs>198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Subhash Tyler</dc:creator>
  <cp:lastModifiedBy>Subhash Tyler</cp:lastModifiedBy>
  <cp:revision>19</cp:revision>
  <dcterms:created xsi:type="dcterms:W3CDTF">2026-10-24T06:01:05Z</dcterms:created>
  <dcterms:modified xsi:type="dcterms:W3CDTF">2026-10-25T11:11:37Z</dcterms:modified>
</cp:coreProperties>
</file>